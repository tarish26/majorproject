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2" r:id="rId1"/>
    <p:sldMasterId id="2147484988" r:id="rId2"/>
  </p:sldMasterIdLst>
  <p:notesMasterIdLst>
    <p:notesMasterId r:id="rId30"/>
  </p:notesMasterIdLst>
  <p:handoutMasterIdLst>
    <p:handoutMasterId r:id="rId31"/>
  </p:handoutMasterIdLst>
  <p:sldIdLst>
    <p:sldId id="325" r:id="rId3"/>
    <p:sldId id="839" r:id="rId4"/>
    <p:sldId id="840" r:id="rId5"/>
    <p:sldId id="841" r:id="rId6"/>
    <p:sldId id="859" r:id="rId7"/>
    <p:sldId id="884" r:id="rId8"/>
    <p:sldId id="897" r:id="rId9"/>
    <p:sldId id="898" r:id="rId10"/>
    <p:sldId id="843" r:id="rId11"/>
    <p:sldId id="883" r:id="rId12"/>
    <p:sldId id="892" r:id="rId13"/>
    <p:sldId id="845" r:id="rId14"/>
    <p:sldId id="888" r:id="rId15"/>
    <p:sldId id="872" r:id="rId16"/>
    <p:sldId id="889" r:id="rId17"/>
    <p:sldId id="893" r:id="rId18"/>
    <p:sldId id="894" r:id="rId19"/>
    <p:sldId id="873" r:id="rId20"/>
    <p:sldId id="895" r:id="rId21"/>
    <p:sldId id="896" r:id="rId22"/>
    <p:sldId id="876" r:id="rId23"/>
    <p:sldId id="854" r:id="rId24"/>
    <p:sldId id="878" r:id="rId25"/>
    <p:sldId id="880" r:id="rId26"/>
    <p:sldId id="879" r:id="rId27"/>
    <p:sldId id="860" r:id="rId28"/>
    <p:sldId id="858" r:id="rId29"/>
  </p:sldIdLst>
  <p:sldSz cx="9144000" cy="6858000" type="screen4x3"/>
  <p:notesSz cx="9942513" cy="6761163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9EA8C8-584C-4C01-89E3-CC153F351FCF}">
          <p14:sldIdLst>
            <p14:sldId id="325"/>
            <p14:sldId id="839"/>
            <p14:sldId id="840"/>
            <p14:sldId id="841"/>
            <p14:sldId id="859"/>
            <p14:sldId id="884"/>
            <p14:sldId id="897"/>
            <p14:sldId id="898"/>
            <p14:sldId id="843"/>
            <p14:sldId id="883"/>
            <p14:sldId id="892"/>
            <p14:sldId id="845"/>
            <p14:sldId id="888"/>
            <p14:sldId id="872"/>
            <p14:sldId id="889"/>
            <p14:sldId id="893"/>
            <p14:sldId id="894"/>
            <p14:sldId id="873"/>
            <p14:sldId id="895"/>
            <p14:sldId id="896"/>
            <p14:sldId id="876"/>
            <p14:sldId id="854"/>
            <p14:sldId id="878"/>
            <p14:sldId id="880"/>
            <p14:sldId id="879"/>
            <p14:sldId id="860"/>
            <p14:sldId id="8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D6C6"/>
    <a:srgbClr val="008AD5"/>
    <a:srgbClr val="FFFFFF"/>
    <a:srgbClr val="00B5FF"/>
    <a:srgbClr val="009CF3"/>
    <a:srgbClr val="005493"/>
    <a:srgbClr val="0096FF"/>
    <a:srgbClr val="FF2F92"/>
    <a:srgbClr val="7A81FF"/>
    <a:srgbClr val="BB5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72" autoAdjust="0"/>
    <p:restoredTop sz="94088" autoAdjust="0"/>
  </p:normalViewPr>
  <p:slideViewPr>
    <p:cSldViewPr snapToGrid="0">
      <p:cViewPr varScale="1">
        <p:scale>
          <a:sx n="89" d="100"/>
          <a:sy n="89" d="100"/>
        </p:scale>
        <p:origin x="1310" y="67"/>
      </p:cViewPr>
      <p:guideLst>
        <p:guide orient="horz" pos="816"/>
        <p:guide pos="521"/>
      </p:guideLst>
    </p:cSldViewPr>
  </p:slideViewPr>
  <p:outlineViewPr>
    <p:cViewPr>
      <p:scale>
        <a:sx n="33" d="100"/>
        <a:sy n="33" d="100"/>
      </p:scale>
      <p:origin x="0" y="-4990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315"/>
    </p:cViewPr>
  </p:sorterViewPr>
  <p:notesViewPr>
    <p:cSldViewPr snapToGrid="0">
      <p:cViewPr varScale="1">
        <p:scale>
          <a:sx n="77" d="100"/>
          <a:sy n="77" d="100"/>
        </p:scale>
        <p:origin x="1599" y="43"/>
      </p:cViewPr>
      <p:guideLst>
        <p:guide orient="horz" pos="2130"/>
        <p:guide pos="31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 dirty="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FAB118C-9CC5-46C6-A261-8E8616325EE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9937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500063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0163" y="3221038"/>
            <a:ext cx="736917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A46AE8F-55D5-467D-8760-46AABFD6E88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972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rgbClr val="E36C0A"/>
        </a:solidFill>
        <a:latin typeface="Times New Roman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253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46AE8F-55D5-467D-8760-46AABFD6E887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0429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46AE8F-55D5-467D-8760-46AABFD6E887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667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373" y="685800"/>
            <a:ext cx="7901609" cy="1615966"/>
          </a:xfrm>
          <a:solidFill>
            <a:srgbClr val="D2691E"/>
          </a:solidFill>
          <a:ln>
            <a:solidFill>
              <a:srgbClr val="D2691E"/>
            </a:solidFill>
          </a:ln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819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60772DA-5EEF-F2DB-EA3A-53ED2791D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90488" indent="0">
              <a:tabLst/>
              <a:defRPr/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490A3F-A374-7A6E-AF01-14E3ADC8E0A4}"/>
              </a:ext>
            </a:extLst>
          </p:cNvPr>
          <p:cNvCxnSpPr/>
          <p:nvPr userDrawn="1"/>
        </p:nvCxnSpPr>
        <p:spPr bwMode="auto">
          <a:xfrm>
            <a:off x="579120" y="6658235"/>
            <a:ext cx="79349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747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F549-2A59-0EBE-B20C-FDD132AA0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F5E6B-4232-7F47-6572-C584B624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A181-A82F-DFFF-0C75-00D161BB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FD2-15E4-94FD-6B2F-AED1EAD5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8875-6B38-F6E0-7F20-3D45C9D4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1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0DF3-5750-400D-C0A3-FD269105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BC4B-D896-69F5-E7C3-62A4AB7A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07398-FDC7-1A26-6F22-383DEF79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FA35C-7866-57F6-19ED-0D2C9294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EC1F-A855-3058-4205-BD67617B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70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3BD2-D04D-C43F-C5DB-F859BE6B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B6478-CD27-AAB2-D9C3-903711F7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6A2-37B4-E9CC-9FE7-FA068FC4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65CB-C85A-1BEC-7089-2FDF5A62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4C664-95ED-AD50-E01A-84573DB4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6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BCED-5EB5-47E1-0BF0-783FDEFE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DFF23-8CDF-00B4-69A6-7A113B7A1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1131A-DEEA-72E3-2147-21823668A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5BF4E-F3EE-751A-3277-A34B448B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E018C-DE01-DD2D-91A4-8E4F4C4E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027FA-4DB8-8064-7F50-FC33CF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5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C92F-1A51-C9CF-592B-B791F2B1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D5B5-0196-29B0-0C59-AFC50C286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0ECBA-F070-B624-1183-A804AB30F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231DF-2850-ABEF-478F-712432FBF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D5C47-74CF-B0D8-AF5E-B61C5DF6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BD41A-DE03-A4C3-D852-98621722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D5BAC-5376-F14B-A7C2-6448B9DA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2040C-B4AA-29B9-072C-53D23770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863-EB41-7519-D5D8-504BBCE0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EA473-481E-7A4E-0D15-CA8C9126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42F5-5CDF-FCB6-3FFD-50104AC0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D58FF-0702-F585-C5E9-AF667AD1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1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166C8-F956-7DF6-EF97-BF79F049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DFCA2-8259-1499-BB18-43AF6234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0F6BB-25BE-AE16-B87C-55A7EA6E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35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372F-13DF-2C8B-A02E-7FA8660C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A82C-ED11-0064-5D40-A0969ACE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6AD5D-C77F-2DEB-F932-42D23B45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24465-317D-30C8-E120-77B80050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A9908-C7A3-84A0-B790-860F5DA7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6993-9C35-41D2-39DB-C35CAC96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82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5142-42C2-98C6-191B-7D76312C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79E1E-F134-700D-EE57-D753560BA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13C7F-9F56-6EE4-7729-50E8E87A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8426-D088-EB2C-AA97-0F35A0F9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94F67-DE2A-27E0-A332-10FED3DE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3980A-1732-61A9-1869-56D8BB42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13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0EA8-09A8-DB4C-245F-2B2ACFAF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735B-DE2A-097B-BF58-29178F6E8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BF62-F6A7-8AA2-F96A-D569858A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2532-AE81-CABD-BF79-AE45984E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80679-0A10-B48C-45F5-CD24BEF1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44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7BEC8-8876-DCEC-4C31-E710E5C66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27F8C-50FA-23DD-E83D-04B476814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E797-D19F-0A9F-0C01-A6181225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5B23-40E1-9EB6-E8AB-800821F5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CA9C8-FF39-4ACB-2644-7DBFF351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0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0007-9E92-488F-FBC3-8F416B54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5664E-E30C-F040-0357-44B0CD98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09917-0B98-9D01-2161-181852C1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9CBC5-B5C7-CB3D-CD6C-C05C764C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5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FEE6AF91-C5F0-494A-81BE-8C742BFB874C}" type="datetime2">
              <a:rPr lang="en-US" altLang="en-US" sz="1000" b="1" smtClean="0">
                <a:solidFill>
                  <a:schemeClr val="bg1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Wednesday, May 13, 2026</a:t>
            </a:fld>
            <a:endParaRPr lang="en-US" altLang="en-US" sz="1000" b="1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pic>
        <p:nvPicPr>
          <p:cNvPr id="3" name="Picture 2" descr="JUIT Office Photos | Glassdoor">
            <a:extLst>
              <a:ext uri="{FF2B5EF4-FFF2-40B4-BE49-F238E27FC236}">
                <a16:creationId xmlns:a16="http://schemas.microsoft.com/office/drawing/2014/main" id="{9C49182E-65AF-DD89-1EC9-BD22AFA987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49072" y="42901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1EF5F1E6-CB5A-2AA7-E80E-C34A90324CDF}"/>
              </a:ext>
            </a:extLst>
          </p:cNvPr>
          <p:cNvSpPr txBox="1">
            <a:spLocks/>
          </p:cNvSpPr>
          <p:nvPr userDrawn="1"/>
        </p:nvSpPr>
        <p:spPr>
          <a:xfrm>
            <a:off x="123673" y="6687228"/>
            <a:ext cx="8694256" cy="19539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5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       </a:t>
            </a:r>
            <a:r>
              <a:rPr lang="en-US" sz="90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Major Project – II (18B19CI891</a:t>
            </a:r>
            <a:r>
              <a:rPr lang="en-US" sz="90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) End-Term </a:t>
            </a:r>
            <a:r>
              <a:rPr lang="en-US" sz="90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Evaluation | Department of CSE &amp; IT | AY 2025-26. 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8C0F4A93-94A3-EEA3-40A0-2AA166503844}"/>
              </a:ext>
            </a:extLst>
          </p:cNvPr>
          <p:cNvSpPr txBox="1">
            <a:spLocks/>
          </p:cNvSpPr>
          <p:nvPr userDrawn="1"/>
        </p:nvSpPr>
        <p:spPr>
          <a:xfrm>
            <a:off x="8798560" y="6613912"/>
            <a:ext cx="259243" cy="2460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50" dirty="0">
              <a:solidFill>
                <a:srgbClr val="002060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1E367-86B8-5C9F-E2DA-EA8B374AA0AD}"/>
              </a:ext>
            </a:extLst>
          </p:cNvPr>
          <p:cNvSpPr txBox="1"/>
          <p:nvPr userDrawn="1"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F37DA46-7849-8B45-8870-09779661198C}" type="slidenum">
              <a:rPr lang="en-US" sz="900" smtClean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pPr algn="ctr"/>
              <a:t>‹#›</a:t>
            </a:fld>
            <a:r>
              <a:rPr lang="en-US" sz="900" dirty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25000"/>
        <a:buFont typeface="Arial" panose="020B0604020202020204" pitchFamily="34" charset="0"/>
        <a:buChar char="•"/>
        <a:defRPr kumimoji="1" sz="18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00000"/>
        <a:buFont typeface="Courier New" panose="02070309020205020404" pitchFamily="49" charset="0"/>
        <a:buChar char="o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3pPr>
      <a:lvl4pPr marL="14287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4pPr>
      <a:lvl5pPr marL="17716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1EF06-99F3-7E6C-9BF2-BD4BE618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1F65-9F9F-07B2-D418-72BC478B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58697-C660-8953-14A2-614079BBD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509C-50A6-7446-A231-A4C5FA90B28F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1EF59-EF14-9B74-67DE-1763E5B7A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D9C0-D19B-AF9A-1547-969981E03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D7B32-6FB4-9B4F-9C66-D4AD63211B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9" r:id="rId1"/>
    <p:sldLayoutId id="2147484990" r:id="rId2"/>
    <p:sldLayoutId id="2147484991" r:id="rId3"/>
    <p:sldLayoutId id="2147484992" r:id="rId4"/>
    <p:sldLayoutId id="2147484993" r:id="rId5"/>
    <p:sldLayoutId id="2147484994" r:id="rId6"/>
    <p:sldLayoutId id="2147484995" r:id="rId7"/>
    <p:sldLayoutId id="2147484996" r:id="rId8"/>
    <p:sldLayoutId id="2147484997" r:id="rId9"/>
    <p:sldLayoutId id="2147484998" r:id="rId10"/>
    <p:sldLayoutId id="2147484999" r:id="rId11"/>
    <p:sldLayoutId id="21474850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ngrx.io/docs" TargetMode="External"/><Relationship Id="rId3" Type="http://schemas.openxmlformats.org/officeDocument/2006/relationships/hyperlink" Target="https://angular.dev/" TargetMode="External"/><Relationship Id="rId7" Type="http://schemas.openxmlformats.org/officeDocument/2006/relationships/hyperlink" Target="https://rxjs.dev/guide/overview" TargetMode="External"/><Relationship Id="rId2" Type="http://schemas.openxmlformats.org/officeDocument/2006/relationships/hyperlink" Target="https://developer.mozilla.org/en-U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ngroup.com/articles/" TargetMode="External"/><Relationship Id="rId11" Type="http://schemas.openxmlformats.org/officeDocument/2006/relationships/hyperlink" Target="https://ijisrt.com/" TargetMode="External"/><Relationship Id="rId5" Type="http://schemas.openxmlformats.org/officeDocument/2006/relationships/hyperlink" Target="https://www.google.com/search?q=https://www.apress.com/gp/book/9781484223062" TargetMode="External"/><Relationship Id="rId10" Type="http://schemas.openxmlformats.org/officeDocument/2006/relationships/hyperlink" Target="https://web.dev/articles/vitals" TargetMode="External"/><Relationship Id="rId4" Type="http://schemas.openxmlformats.org/officeDocument/2006/relationships/hyperlink" Target="https://angular.dev/style-guide" TargetMode="External"/><Relationship Id="rId9" Type="http://schemas.openxmlformats.org/officeDocument/2006/relationships/hyperlink" Target="https://www.typescriptlang.org/docs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511380"/>
            <a:ext cx="9144000" cy="759871"/>
          </a:xfrm>
          <a:solidFill>
            <a:srgbClr val="0037A4"/>
          </a:solidFill>
          <a:ln w="19050">
            <a:solidFill>
              <a:schemeClr val="bg1"/>
            </a:solidFill>
          </a:ln>
        </p:spPr>
        <p:txBody>
          <a:bodyPr anchor="t"/>
          <a:lstStyle/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cs typeface="Tahoma" panose="020B0604030504040204" pitchFamily="34" charset="0"/>
              </a:rPr>
              <a:t>JSON Config Driven Dashboard</a:t>
            </a:r>
            <a:endParaRPr lang="en-US" altLang="en-US" sz="1400" b="1" dirty="0">
              <a:cs typeface="Tahom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FB7B0-90E1-217E-359E-488BB2E7656E}"/>
              </a:ext>
            </a:extLst>
          </p:cNvPr>
          <p:cNvSpPr/>
          <p:nvPr/>
        </p:nvSpPr>
        <p:spPr>
          <a:xfrm>
            <a:off x="1414146" y="2108091"/>
            <a:ext cx="6315704" cy="10608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Major Project - II (18B19CI891) | AY 2025-26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Mid-Term Evaluation |May 2026.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B7EDF-18D7-C792-681D-E69AE68A4AAB}"/>
              </a:ext>
            </a:extLst>
          </p:cNvPr>
          <p:cNvSpPr txBox="1"/>
          <p:nvPr/>
        </p:nvSpPr>
        <p:spPr>
          <a:xfrm>
            <a:off x="517798" y="4498606"/>
            <a:ext cx="3620582" cy="1584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Group No.: IG02</a:t>
            </a:r>
          </a:p>
          <a:p>
            <a:endParaRPr lang="en-IN" sz="1600" dirty="0">
              <a:latin typeface="Helvetica" pitchFamily="2" charset="0"/>
              <a:ea typeface="Palatino" pitchFamily="2" charset="77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IN" sz="1600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Team Member (s)</a:t>
            </a:r>
            <a:endParaRPr lang="en-US" sz="1600" b="1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Tarish Sharma(221030011)</a:t>
            </a:r>
          </a:p>
          <a:p>
            <a:pPr algn="ctr"/>
            <a:endParaRPr lang="en-US" sz="1600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2713F-9CAD-198F-43B7-75929E7A5424}"/>
              </a:ext>
            </a:extLst>
          </p:cNvPr>
          <p:cNvSpPr txBox="1"/>
          <p:nvPr/>
        </p:nvSpPr>
        <p:spPr>
          <a:xfrm>
            <a:off x="4871438" y="5041029"/>
            <a:ext cx="411832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rPr>
              <a:t>Supervisor</a:t>
            </a: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Name: Mr. Akshay Kumar</a:t>
            </a:r>
          </a:p>
          <a:p>
            <a:pPr marL="357188">
              <a:lnSpc>
                <a:spcPct val="125000"/>
              </a:lnSpc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Designation: Assistant Professor (Grade 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14CA5-1CBF-7BB0-83BB-4FDA4318A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492" y="-165253"/>
            <a:ext cx="1178805" cy="895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D618C9-A35C-A359-4E30-21B6471F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901" y="160424"/>
            <a:ext cx="1015707" cy="345492"/>
          </a:xfrm>
          <a:prstGeom prst="rect">
            <a:avLst/>
          </a:prstGeom>
        </p:spPr>
      </p:pic>
      <p:pic>
        <p:nvPicPr>
          <p:cNvPr id="12" name="Picture 11" descr="JUIT Office Photos | Glassdoor">
            <a:extLst>
              <a:ext uri="{FF2B5EF4-FFF2-40B4-BE49-F238E27FC236}">
                <a16:creationId xmlns:a16="http://schemas.microsoft.com/office/drawing/2014/main" id="{7647374D-C05A-F866-81A8-19ED5262B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17" y="93342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7539BDE9-603E-4BD3-A201-EB56FD66F79C}"/>
              </a:ext>
            </a:extLst>
          </p:cNvPr>
          <p:cNvSpPr txBox="1">
            <a:spLocks/>
          </p:cNvSpPr>
          <p:nvPr/>
        </p:nvSpPr>
        <p:spPr>
          <a:xfrm>
            <a:off x="-2" y="601361"/>
            <a:ext cx="9144000" cy="1411285"/>
          </a:xfrm>
          <a:prstGeom prst="rect">
            <a:avLst/>
          </a:prstGeom>
        </p:spPr>
        <p:txBody>
          <a:bodyPr anchor="b"/>
          <a:lstStyle/>
          <a:p>
            <a:pPr algn="ctr" eaLnBrk="1" fontAlgn="auto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8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Jaypee University of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Department of Computer Science and Engineering and Information Technology</a:t>
            </a:r>
            <a:endParaRPr kumimoji="0" lang="en-IN" sz="2600" b="1" i="0" u="none" strike="noStrike" kern="1200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alatino" pitchFamily="2" charset="77"/>
              <a:ea typeface="Palatino" pitchFamily="2" charset="7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Introduction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Problem Statement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Objectives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Literature Review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Project Design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Tools, Technologies and Languages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Dataset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Implementation (if any)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Results (if any)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Key Learnings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Work Plan till End-Term Evaluation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Project Plan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Work Contribution and Attendance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Supervisor Interactions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References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400" kern="0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550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GB" dirty="0"/>
              <a:t>Modern web applications often require frequent UI updates to accommodate new data sources, KPIs, or features. However, hard-coding these changes increases development time and reduces flexibility. A </a:t>
            </a:r>
            <a:r>
              <a:rPr lang="en-GB" b="1" dirty="0"/>
              <a:t>JSON</a:t>
            </a:r>
            <a:r>
              <a:rPr lang="en-GB" dirty="0"/>
              <a:t> </a:t>
            </a:r>
            <a:r>
              <a:rPr lang="en-GB" b="1" dirty="0"/>
              <a:t>config-driven dashboard</a:t>
            </a:r>
            <a:r>
              <a:rPr lang="en-GB" dirty="0"/>
              <a:t> allows developers or administrators to control what data, layout, and components appear on the dashboard through a simple configuration file (e.g., JSON), without altering the source code.</a:t>
            </a:r>
          </a:p>
          <a:p>
            <a:r>
              <a:rPr lang="en-GB" dirty="0"/>
              <a:t>This project aims to design and develop a </a:t>
            </a:r>
            <a:r>
              <a:rPr lang="en-GB" b="1" dirty="0"/>
              <a:t>JSON</a:t>
            </a:r>
            <a:r>
              <a:rPr lang="en-GB" dirty="0"/>
              <a:t> </a:t>
            </a:r>
            <a:r>
              <a:rPr lang="en-GB" b="1" dirty="0"/>
              <a:t>Config-Driven Dashboard</a:t>
            </a:r>
            <a:r>
              <a:rPr lang="en-GB" dirty="0"/>
              <a:t> that dynamically renders cards, charts, and tables based on configuration files. It enables easy customization, modularity, and scalability — ideal for analytics and administrative use cases.</a:t>
            </a:r>
          </a:p>
        </p:txBody>
      </p:sp>
    </p:spTree>
    <p:extLst>
      <p:ext uri="{BB962C8B-B14F-4D97-AF65-F5344CB8AC3E}">
        <p14:creationId xmlns:p14="http://schemas.microsoft.com/office/powerpoint/2010/main" val="359526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GB" dirty="0"/>
              <a:t>In traditional frontend applications, updating UI elements (like adding charts or rearranging components) requires manual code modifications.</a:t>
            </a:r>
            <a:br>
              <a:rPr lang="en-GB" dirty="0"/>
            </a:br>
            <a:r>
              <a:rPr lang="en-GB" dirty="0"/>
              <a:t>This leads to:</a:t>
            </a:r>
          </a:p>
          <a:p>
            <a:pPr lvl="1"/>
            <a:r>
              <a:rPr lang="en-GB" dirty="0"/>
              <a:t>Increased development and deployment time.</a:t>
            </a:r>
          </a:p>
          <a:p>
            <a:pPr lvl="1"/>
            <a:r>
              <a:rPr lang="en-GB" dirty="0"/>
              <a:t>High maintenance cost for minor UI changes.</a:t>
            </a:r>
          </a:p>
          <a:p>
            <a:pPr lvl="1"/>
            <a:r>
              <a:rPr lang="en-GB" dirty="0"/>
              <a:t>Poor scalability when dashboards must vary for multiple users or departments.</a:t>
            </a:r>
          </a:p>
          <a:p>
            <a:r>
              <a:rPr lang="en-GB" dirty="0"/>
              <a:t>Hence, there is a need for a </a:t>
            </a:r>
            <a:r>
              <a:rPr lang="en-GB" b="1" dirty="0"/>
              <a:t>JSON</a:t>
            </a:r>
            <a:r>
              <a:rPr lang="en-GB" dirty="0"/>
              <a:t> </a:t>
            </a:r>
            <a:r>
              <a:rPr lang="en-GB" b="1" dirty="0"/>
              <a:t>config-driven system</a:t>
            </a:r>
            <a:r>
              <a:rPr lang="en-GB" dirty="0"/>
              <a:t> where UI layouts and data sources can be easily managed through configuration files rather than code changes.</a:t>
            </a:r>
          </a:p>
        </p:txBody>
      </p:sp>
    </p:spTree>
    <p:extLst>
      <p:ext uri="{BB962C8B-B14F-4D97-AF65-F5344CB8AC3E}">
        <p14:creationId xmlns:p14="http://schemas.microsoft.com/office/powerpoint/2010/main" val="292789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lvl="0" indent="0" algn="l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dirty="0">
                <a:latin typeface="Arial" panose="020B0604020202020204" pitchFamily="34" charset="0"/>
              </a:rPr>
              <a:t>To develop a </a:t>
            </a:r>
            <a:r>
              <a:rPr kumimoji="0" lang="en-US" altLang="en-US" b="1" dirty="0">
                <a:latin typeface="Arial" panose="020B0604020202020204" pitchFamily="34" charset="0"/>
              </a:rPr>
              <a:t>dynamic, configurable dashboard</a:t>
            </a:r>
            <a:r>
              <a:rPr kumimoji="0" lang="en-US" altLang="en-US" dirty="0">
                <a:latin typeface="Arial" panose="020B0604020202020204" pitchFamily="34" charset="0"/>
              </a:rPr>
              <a:t> using modern frontend technologies.</a:t>
            </a:r>
          </a:p>
          <a:p>
            <a:pPr marL="0" lvl="0" indent="0" algn="l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dirty="0">
                <a:latin typeface="Arial" panose="020B0604020202020204" pitchFamily="34" charset="0"/>
              </a:rPr>
              <a:t>To design a </a:t>
            </a:r>
            <a:r>
              <a:rPr kumimoji="0" lang="en-US" altLang="en-US" b="1" dirty="0">
                <a:latin typeface="Arial" panose="020B0604020202020204" pitchFamily="34" charset="0"/>
              </a:rPr>
              <a:t>JSON-based configuration model</a:t>
            </a:r>
            <a:r>
              <a:rPr kumimoji="0" lang="en-US" altLang="en-US" dirty="0">
                <a:latin typeface="Arial" panose="020B0604020202020204" pitchFamily="34" charset="0"/>
              </a:rPr>
              <a:t> that controls layout, components, and data sources.</a:t>
            </a:r>
          </a:p>
          <a:p>
            <a:pPr marL="357188" indent="-261938">
              <a:lnSpc>
                <a:spcPct val="200000"/>
              </a:lnSpc>
            </a:pP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607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25FF3-733E-7FFB-B98E-115B69886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06037"/>
              </p:ext>
            </p:extLst>
          </p:nvPr>
        </p:nvGraphicFramePr>
        <p:xfrm>
          <a:off x="110168" y="881348"/>
          <a:ext cx="8923663" cy="56512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38761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376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MDN Web Docs [MDN][1]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Foundational Web Documentation (2005)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HTML, CSS, JavaScript Standards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Provides comprehensive, up-to-date documentation for web technologies, enabling rapid development.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Depth can be overwhelming for absolute beginners; community maintenance introduces potential for minor inconsistencies.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Angular Framework Documentation [Angular][2]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Official Project Documentation (2016)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TypeScript, Angular CLI, RxJS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Offers authoritative guidance on framework usage, architecture, and core concepts.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Primarily focused on the framework; assumes familiarity with underlying web technologies (TS, JS).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The Official Angular Style Guide [Style][3]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Community Best Practices (2016)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TypeScript, Component Architecture, Naming Conventions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Establishes a consistent, maintainable code base; improves team onboarding and code review efficiency.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Subjective compliance across large teams; guide is opinionated and may not suit all project requirements.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Pro Angular [Freeman][4]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Apress / Technical Publication (2017)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Real-world examples, advanced features (e.g., Universal, PWA)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Provides a structured, in-depth learning path from beginner to advanced topics; reinforces practical application.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Requires periodic updates to keep pace with rapid Angular releases; cost barrier for access.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38A3-74C4-AD58-C4CF-98D9EAEEE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4C52-C1A7-4570-D3A1-D965A2F1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7D779A-E492-5508-DDFD-D0FD229109F5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A41BC5-D75F-D5A2-D016-8501B14F1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489202"/>
              </p:ext>
            </p:extLst>
          </p:nvPr>
        </p:nvGraphicFramePr>
        <p:xfrm>
          <a:off x="110168" y="881348"/>
          <a:ext cx="8923663" cy="5499575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538761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376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1353382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5.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Articles on Usability and UX [NNG][5]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NN/g Research Publications (1998)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Heuristic evaluation, A/B testing, user studies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Delivers evidence-based best practices for designing highly usable and accessible web applications.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Findings are general design principles and require interpretation for specific technical implementations.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353382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6.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RxJS Documentation [RxJS][6]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Official Project Documentation (2012)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Observables, Operators (e.g., map, filter, switchMap)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Clear explanation of reactive programming concepts in JavaScript; crucial for state management and async operations.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Steep learning curve due to paradigm shift (imperative to reactive); over-reliance on complex operators reduces readability.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353382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7.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NgRx: Reactive State for Angular [NgRx][7]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Official Project Documentation (2016)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Redux Pattern, Store, Effects, Selectors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Enables predictable, centralized state management for complex applications; facilitates time-travel debugging.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Introduces significant boilerplate code (though reduced in newer versions); complexity often unnecessary for small apps.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439429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TypeScript Handbook [TypeScript][8]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Microsoft Documentation (2012)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Static Typing, Interfaces, Generics, Decorators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drastic reduction in runtime errors; improves code refactoring, autocompletion, and scalability in large teams.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Requires a compilation step; creates a learning curve for developers accustomed to dynamic typing in JavaScript.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22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F0708-A94F-7CCE-453C-0CA251449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3ED2-74A3-2274-3314-EC9BF028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E6937D-C262-8848-D50A-7A4A7A6EA39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889641-7D3C-E535-A6B4-69F95115A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720315"/>
              </p:ext>
            </p:extLst>
          </p:nvPr>
        </p:nvGraphicFramePr>
        <p:xfrm>
          <a:off x="110168" y="881348"/>
          <a:ext cx="8923663" cy="2706764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538761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376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1353382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9.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Web Vitals [Google][9]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Google Search Central (2020)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LCP, INP, CLS, Lighthouse Performance Audits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Provides quantifiable, unified metrics (Core Web Vitals) to measure and optimize real-world user experience and SEO.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Metrics can fluctuate based on user device/network; "gaming" metrics does not always equate to better perceived UX.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353382"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10.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Comparative Analysis of Angular, React, &amp; Vue.js [IJISRT][10]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Int. Journal of Innovative Science (2024)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Framework Benchmarking, DOM Manipulation Tests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Identifies Angular as superior for large-scale enterprise systems due to strict structure, while React excels in flexibility.</a:t>
                      </a:r>
                      <a:endParaRPr lang="en-IN" sz="1200" kern="10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30175">
                        <a:lnSpc>
                          <a:spcPct val="10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Relies on synthetic benchmarks which may not perfectly reflect the performance nuances of complex, real-world scenarios.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94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Done (after MP-I)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93643" y="930010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r>
              <a:rPr lang="en-GB" sz="1600" b="1" dirty="0">
                <a:ea typeface="Palatino" pitchFamily="2" charset="77"/>
              </a:rPr>
              <a:t>Advanced Feature Implementation</a:t>
            </a:r>
            <a:endParaRPr lang="en-GB" sz="1600" dirty="0">
              <a:ea typeface="Palatino" pitchFamily="2" charset="77"/>
            </a:endParaRPr>
          </a:p>
          <a:p>
            <a:pPr marL="95250" indent="0">
              <a:lnSpc>
                <a:spcPct val="100000"/>
              </a:lnSpc>
              <a:buNone/>
            </a:pPr>
            <a:r>
              <a:rPr lang="en-GB" sz="1400" b="1" dirty="0">
                <a:ea typeface="Palatino" pitchFamily="2" charset="77"/>
              </a:rPr>
              <a:t>Dynamic Data Upload &amp; Parsing: </a:t>
            </a:r>
            <a:r>
              <a:rPr lang="en-GB" sz="1400" dirty="0">
                <a:ea typeface="Palatino" pitchFamily="2" charset="77"/>
              </a:rPr>
              <a:t>Implemented a robust </a:t>
            </a:r>
            <a:r>
              <a:rPr lang="en-GB" sz="1400" dirty="0" err="1">
                <a:ea typeface="Palatino" pitchFamily="2" charset="77"/>
              </a:rPr>
              <a:t>CsvParserService</a:t>
            </a:r>
            <a:r>
              <a:rPr lang="en-GB" sz="1400" dirty="0">
                <a:ea typeface="Palatino" pitchFamily="2" charset="77"/>
              </a:rPr>
              <a:t> using </a:t>
            </a:r>
            <a:r>
              <a:rPr lang="en-GB" sz="1400" dirty="0" err="1">
                <a:ea typeface="Palatino" pitchFamily="2" charset="77"/>
              </a:rPr>
              <a:t>PapaParse</a:t>
            </a:r>
            <a:r>
              <a:rPr lang="en-GB" sz="1400" dirty="0">
                <a:ea typeface="Palatino" pitchFamily="2" charset="77"/>
              </a:rPr>
              <a:t> to ingest user-provided CSV files directly from the UI.</a:t>
            </a:r>
          </a:p>
          <a:p>
            <a:pPr marL="95250" indent="0">
              <a:lnSpc>
                <a:spcPct val="100000"/>
              </a:lnSpc>
              <a:buNone/>
            </a:pPr>
            <a:endParaRPr lang="en-GB" sz="1400" dirty="0">
              <a:ea typeface="Palatino" pitchFamily="2" charset="77"/>
            </a:endParaRPr>
          </a:p>
          <a:p>
            <a:pPr marL="95250" indent="0">
              <a:lnSpc>
                <a:spcPct val="100000"/>
              </a:lnSpc>
              <a:buNone/>
            </a:pPr>
            <a:r>
              <a:rPr lang="en-GB" sz="1400" b="1" dirty="0">
                <a:ea typeface="Palatino" pitchFamily="2" charset="77"/>
              </a:rPr>
              <a:t>Expanded Feature Modules:</a:t>
            </a:r>
            <a:r>
              <a:rPr lang="en-GB" sz="1400" dirty="0">
                <a:ea typeface="Palatino" pitchFamily="2" charset="77"/>
              </a:rPr>
              <a:t> Developed dedicated UI modules for Analytics, Users, Products, and Orders.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GB" sz="1400" dirty="0">
                <a:ea typeface="Palatino" pitchFamily="2" charset="77"/>
              </a:rPr>
              <a:t>Performance &amp; Optimization.</a:t>
            </a:r>
          </a:p>
          <a:p>
            <a:pPr marL="95250" indent="0">
              <a:lnSpc>
                <a:spcPct val="100000"/>
              </a:lnSpc>
              <a:buNone/>
            </a:pPr>
            <a:endParaRPr lang="en-GB" sz="1400" dirty="0">
              <a:ea typeface="Palatino" pitchFamily="2" charset="77"/>
            </a:endParaRPr>
          </a:p>
          <a:p>
            <a:pPr marL="95250" indent="0">
              <a:lnSpc>
                <a:spcPct val="100000"/>
              </a:lnSpc>
              <a:buNone/>
            </a:pPr>
            <a:r>
              <a:rPr lang="en-GB" sz="1400" b="1" dirty="0">
                <a:ea typeface="Palatino" pitchFamily="2" charset="77"/>
              </a:rPr>
              <a:t>State Persistence: </a:t>
            </a:r>
            <a:r>
              <a:rPr lang="en-GB" sz="1400" dirty="0">
                <a:ea typeface="Palatino" pitchFamily="2" charset="77"/>
              </a:rPr>
              <a:t>Enhanced the </a:t>
            </a:r>
            <a:r>
              <a:rPr lang="en-GB" sz="1400" dirty="0" err="1">
                <a:ea typeface="Palatino" pitchFamily="2" charset="77"/>
              </a:rPr>
              <a:t>DashboardService</a:t>
            </a:r>
            <a:r>
              <a:rPr lang="en-GB" sz="1400" dirty="0">
                <a:ea typeface="Palatino" pitchFamily="2" charset="77"/>
              </a:rPr>
              <a:t> caching mechanism for flicker-free rendering when receiving new data.</a:t>
            </a:r>
          </a:p>
        </p:txBody>
      </p:sp>
    </p:spTree>
    <p:extLst>
      <p:ext uri="{BB962C8B-B14F-4D97-AF65-F5344CB8AC3E}">
        <p14:creationId xmlns:p14="http://schemas.microsoft.com/office/powerpoint/2010/main" val="99892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98B9-7821-8ACD-C792-3B5F23C9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E86C9-B4A3-F4AC-1521-C522821B3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13" y="2584534"/>
            <a:ext cx="6480314" cy="405001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606774-D02D-0AA6-E33B-F48A47CAD52D}"/>
              </a:ext>
            </a:extLst>
          </p:cNvPr>
          <p:cNvSpPr txBox="1">
            <a:spLocks/>
          </p:cNvSpPr>
          <p:nvPr/>
        </p:nvSpPr>
        <p:spPr bwMode="auto">
          <a:xfrm>
            <a:off x="93643" y="839676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lnSpc>
                <a:spcPct val="100000"/>
              </a:lnSpc>
              <a:buNone/>
            </a:pPr>
            <a:r>
              <a:rPr lang="en-IN" sz="1600" b="1" dirty="0">
                <a:ea typeface="Palatino" pitchFamily="2" charset="77"/>
              </a:rPr>
              <a:t>Key Design Decisions: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IN" sz="1400" b="1" dirty="0">
                <a:ea typeface="Palatino" pitchFamily="2" charset="77"/>
              </a:rPr>
              <a:t>Config-Driven UI: </a:t>
            </a:r>
            <a:r>
              <a:rPr lang="en-IN" sz="1400" dirty="0">
                <a:ea typeface="Palatino" pitchFamily="2" charset="77"/>
              </a:rPr>
              <a:t>The entire dashboard layout and content are defined by a JSON configuration object (</a:t>
            </a:r>
            <a:r>
              <a:rPr lang="en-IN" sz="1400" dirty="0" err="1">
                <a:ea typeface="Palatino" pitchFamily="2" charset="77"/>
              </a:rPr>
              <a:t>DashboardConfig</a:t>
            </a:r>
            <a:r>
              <a:rPr lang="en-IN" sz="1400" dirty="0">
                <a:ea typeface="Palatino" pitchFamily="2" charset="77"/>
              </a:rPr>
              <a:t>), enabling dynamic rendering without code changes.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IN" sz="1400" b="1" dirty="0">
                <a:ea typeface="Palatino" pitchFamily="2" charset="77"/>
              </a:rPr>
              <a:t>Separation of Concerns: </a:t>
            </a:r>
            <a:r>
              <a:rPr lang="en-IN" sz="1400" dirty="0">
                <a:ea typeface="Palatino" pitchFamily="2" charset="77"/>
              </a:rPr>
              <a:t>Decouples the Definition (Config) from the Presentation (Components), allowing runtime flexibility.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IN" sz="1400" b="1" dirty="0">
                <a:ea typeface="Palatino" pitchFamily="2" charset="77"/>
              </a:rPr>
              <a:t>Scalable Component Factory: </a:t>
            </a:r>
            <a:r>
              <a:rPr lang="en-IN" sz="1400" dirty="0">
                <a:ea typeface="Palatino" pitchFamily="2" charset="77"/>
              </a:rPr>
              <a:t>A central </a:t>
            </a:r>
            <a:r>
              <a:rPr lang="en-IN" sz="1400" dirty="0" err="1">
                <a:ea typeface="Palatino" pitchFamily="2" charset="77"/>
              </a:rPr>
              <a:t>DashboardComponent</a:t>
            </a:r>
            <a:r>
              <a:rPr lang="en-IN" sz="1400" dirty="0">
                <a:ea typeface="Palatino" pitchFamily="2" charset="77"/>
              </a:rPr>
              <a:t> iterates over the config and dynamically hosts specific card types (Metric, Chart, Table).</a:t>
            </a: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0" indent="0" algn="ctr">
              <a:buNone/>
            </a:pPr>
            <a:r>
              <a:rPr lang="en-IN" sz="1400" b="1" dirty="0">
                <a:ea typeface="Palatino" pitchFamily="2" charset="77"/>
              </a:rPr>
              <a:t>Figure 1:</a:t>
            </a:r>
            <a:r>
              <a:rPr lang="en-IN" sz="1400" b="1" i="1" dirty="0"/>
              <a:t>System Architecture Diagram</a:t>
            </a:r>
            <a:br>
              <a:rPr lang="en-IN" dirty="0"/>
            </a:b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48411-792B-E2E6-69EC-2D600A8E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(cont…)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7930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FF59-1B99-048A-94F9-61BA1EF3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A03A62-044D-9B68-B98D-54B511C3D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3299659"/>
            <a:ext cx="7434470" cy="312115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CEA15A-1F70-B5E0-DC69-C1CA1A450A3A}"/>
              </a:ext>
            </a:extLst>
          </p:cNvPr>
          <p:cNvSpPr txBox="1">
            <a:spLocks/>
          </p:cNvSpPr>
          <p:nvPr/>
        </p:nvSpPr>
        <p:spPr bwMode="auto">
          <a:xfrm>
            <a:off x="93643" y="839676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b="1" dirty="0"/>
              <a:t>Data Flow Logic:</a:t>
            </a:r>
            <a:endParaRPr lang="en-GB" sz="1600" dirty="0"/>
          </a:p>
          <a:p>
            <a:pPr>
              <a:lnSpc>
                <a:spcPct val="100000"/>
              </a:lnSpc>
            </a:pPr>
            <a:r>
              <a:rPr lang="en-GB" sz="1400" b="1" dirty="0"/>
              <a:t>Single Source of Truth</a:t>
            </a:r>
            <a:r>
              <a:rPr lang="en-GB" sz="1400" dirty="0"/>
              <a:t>: The </a:t>
            </a:r>
            <a:r>
              <a:rPr lang="en-GB" sz="1400" dirty="0" err="1"/>
              <a:t>DashboardService</a:t>
            </a:r>
            <a:r>
              <a:rPr lang="en-GB" sz="1400" dirty="0"/>
              <a:t> holds the state in a </a:t>
            </a:r>
            <a:r>
              <a:rPr lang="en-GB" sz="1400" dirty="0" err="1"/>
              <a:t>BehaviorSubject</a:t>
            </a:r>
            <a:r>
              <a:rPr lang="en-GB" sz="1400" dirty="0"/>
              <a:t>, ensuring all components see consistent data.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Reactive Updates</a:t>
            </a:r>
            <a:r>
              <a:rPr lang="en-GB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GB" sz="1400" b="1" dirty="0"/>
              <a:t>Dashboard View</a:t>
            </a:r>
            <a:r>
              <a:rPr lang="en-GB" sz="1400" dirty="0"/>
              <a:t>: Subscribes to config$ observable to render the layout.</a:t>
            </a:r>
          </a:p>
          <a:p>
            <a:pPr lvl="1">
              <a:lnSpc>
                <a:spcPct val="100000"/>
              </a:lnSpc>
            </a:pPr>
            <a:r>
              <a:rPr lang="en-GB" sz="1400" b="1" dirty="0"/>
              <a:t>Card Editor</a:t>
            </a:r>
            <a:r>
              <a:rPr lang="en-GB" sz="1400" dirty="0"/>
              <a:t>: Uses </a:t>
            </a:r>
            <a:r>
              <a:rPr lang="en-GB" sz="1400" b="1" dirty="0"/>
              <a:t>Angular Signals</a:t>
            </a:r>
            <a:r>
              <a:rPr lang="en-GB" sz="1400" dirty="0"/>
              <a:t> (</a:t>
            </a:r>
            <a:r>
              <a:rPr lang="en-GB" sz="1400" dirty="0" err="1"/>
              <a:t>toSignal</a:t>
            </a:r>
            <a:r>
              <a:rPr lang="en-GB" sz="1400" dirty="0"/>
              <a:t>, computed) to derive instant preview states from form inputs.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Immutable Actions</a:t>
            </a:r>
            <a:r>
              <a:rPr lang="en-GB" sz="1400" dirty="0"/>
              <a:t>: Updates are processed via pure functions in the service, emitting new state references to trigger change detection only when necessary.</a:t>
            </a:r>
          </a:p>
          <a:p>
            <a:pPr marL="95250" indent="0" algn="ctr">
              <a:buNone/>
            </a:pPr>
            <a:endParaRPr lang="en-IN" dirty="0">
              <a:ea typeface="Palatino" pitchFamily="2" charset="77"/>
            </a:endParaRPr>
          </a:p>
          <a:p>
            <a:pPr marL="95250" indent="0" algn="ctr">
              <a:buNone/>
            </a:pPr>
            <a:endParaRPr lang="en-IN" dirty="0">
              <a:ea typeface="Palatino" pitchFamily="2" charset="77"/>
            </a:endParaRPr>
          </a:p>
          <a:p>
            <a:pPr marL="95250" indent="0" algn="ctr">
              <a:buNone/>
            </a:pPr>
            <a:endParaRPr lang="en-IN" dirty="0">
              <a:ea typeface="Palatino" pitchFamily="2" charset="77"/>
            </a:endParaRPr>
          </a:p>
          <a:p>
            <a:pPr marL="95250" indent="0" algn="ctr">
              <a:buNone/>
            </a:pPr>
            <a:endParaRPr lang="en-IN" dirty="0">
              <a:ea typeface="Palatino" pitchFamily="2" charset="77"/>
            </a:endParaRPr>
          </a:p>
          <a:p>
            <a:pPr marL="95250" indent="0" algn="ctr">
              <a:buNone/>
            </a:pPr>
            <a:endParaRPr lang="en-IN" dirty="0">
              <a:ea typeface="Palatino" pitchFamily="2" charset="77"/>
            </a:endParaRPr>
          </a:p>
          <a:p>
            <a:pPr marL="95250" indent="0" algn="ctr">
              <a:buNone/>
            </a:pPr>
            <a:r>
              <a:rPr lang="en-IN" sz="1400" b="1" dirty="0">
                <a:ea typeface="Palatino" pitchFamily="2" charset="77"/>
              </a:rPr>
              <a:t>Figure 2: Data Flow Diagram</a:t>
            </a: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  <a:p>
            <a:pPr marL="0" indent="0" algn="ctr">
              <a:buNone/>
            </a:pPr>
            <a:r>
              <a:rPr lang="en-IN" sz="1400" dirty="0">
                <a:ea typeface="Palatino" pitchFamily="2" charset="77"/>
              </a:rPr>
              <a:t>Figure 1:</a:t>
            </a:r>
            <a:r>
              <a:rPr lang="en-IN" sz="1400" i="1" dirty="0"/>
              <a:t>System Architecture Diagram</a:t>
            </a:r>
            <a:br>
              <a:rPr lang="en-IN" dirty="0"/>
            </a:br>
            <a:endParaRPr lang="en-IN" dirty="0">
              <a:ea typeface="Palatino" pitchFamily="2" charset="77"/>
            </a:endParaRPr>
          </a:p>
          <a:p>
            <a:pPr marL="95250" indent="0">
              <a:buNone/>
            </a:pPr>
            <a:endParaRPr lang="en-IN" dirty="0">
              <a:ea typeface="Palatino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6C9E8-FA6F-3B03-CD46-65FA8E6D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(cont…)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3690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(cont…)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Module Interactions:</a:t>
            </a:r>
            <a:endParaRPr lang="en-IN" sz="1600" dirty="0"/>
          </a:p>
          <a:p>
            <a:pPr>
              <a:lnSpc>
                <a:spcPct val="100000"/>
              </a:lnSpc>
            </a:pPr>
            <a:r>
              <a:rPr lang="en-IN" sz="1400" b="1" dirty="0"/>
              <a:t>Core Module</a:t>
            </a:r>
            <a:r>
              <a:rPr lang="en-IN" sz="1400" dirty="0"/>
              <a:t>: Contains singleton services (</a:t>
            </a:r>
            <a:r>
              <a:rPr lang="en-IN" sz="1400" dirty="0" err="1"/>
              <a:t>DashboardService</a:t>
            </a:r>
            <a:r>
              <a:rPr lang="en-IN" sz="1400" dirty="0"/>
              <a:t>) and data models (</a:t>
            </a:r>
            <a:r>
              <a:rPr lang="en-IN" sz="1400" dirty="0" err="1"/>
              <a:t>DashboardConfig</a:t>
            </a:r>
            <a:r>
              <a:rPr lang="en-IN" sz="1400" dirty="0"/>
              <a:t>). Loaded once at app startup.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Features Modules</a:t>
            </a:r>
            <a:r>
              <a:rPr lang="en-IN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IN" sz="1400" dirty="0" err="1"/>
              <a:t>DashboardModule</a:t>
            </a:r>
            <a:r>
              <a:rPr lang="en-IN" sz="1400" dirty="0"/>
              <a:t>: Consumes config to render the view.</a:t>
            </a:r>
          </a:p>
          <a:p>
            <a:pPr lvl="1">
              <a:lnSpc>
                <a:spcPct val="100000"/>
              </a:lnSpc>
            </a:pPr>
            <a:r>
              <a:rPr lang="en-IN" sz="1400" dirty="0" err="1"/>
              <a:t>CardEditorModule</a:t>
            </a:r>
            <a:r>
              <a:rPr lang="en-IN" sz="1400" dirty="0"/>
              <a:t>: Consumes config to provide editing capabilities.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Shared Module</a:t>
            </a:r>
            <a:r>
              <a:rPr lang="en-IN" sz="1400" dirty="0"/>
              <a:t>: Provides reusable UI atoms (Buttons, Inputs) and Pipes (Formatters) to both feature modules, ensuring visual consistency.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Key Algorithm: Dynamic Style Injection</a:t>
            </a:r>
            <a:endParaRPr lang="en-IN" sz="1600" dirty="0"/>
          </a:p>
          <a:p>
            <a:pPr>
              <a:lnSpc>
                <a:spcPct val="100000"/>
              </a:lnSpc>
            </a:pPr>
            <a:r>
              <a:rPr lang="en-IN" sz="1400" b="1" dirty="0"/>
              <a:t>Sanitization</a:t>
            </a:r>
            <a:r>
              <a:rPr lang="en-IN" sz="1400" dirty="0"/>
              <a:t>: The </a:t>
            </a:r>
            <a:r>
              <a:rPr lang="en-IN" sz="1400" dirty="0" err="1"/>
              <a:t>CardStyles</a:t>
            </a:r>
            <a:r>
              <a:rPr lang="en-IN" sz="1400" dirty="0"/>
              <a:t> interface acts as an allowlist.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Application</a:t>
            </a:r>
            <a:r>
              <a:rPr lang="en-IN" sz="1400" dirty="0"/>
              <a:t>: Styles are applied via </a:t>
            </a:r>
            <a:r>
              <a:rPr lang="en-IN" sz="1400" dirty="0" err="1"/>
              <a:t>Angular's</a:t>
            </a:r>
            <a:r>
              <a:rPr lang="en-IN" sz="1400" dirty="0"/>
              <a:t> [style] binding (e.g., [</a:t>
            </a:r>
            <a:r>
              <a:rPr lang="en-IN" sz="1400" dirty="0" err="1"/>
              <a:t>style.gridColumn</a:t>
            </a:r>
            <a:r>
              <a:rPr lang="en-IN" sz="1400" dirty="0"/>
              <a:t>]), preventing XSS risks while allowing user customization.</a:t>
            </a:r>
          </a:p>
        </p:txBody>
      </p:sp>
    </p:spTree>
    <p:extLst>
      <p:ext uri="{BB962C8B-B14F-4D97-AF65-F5344CB8AC3E}">
        <p14:creationId xmlns:p14="http://schemas.microsoft.com/office/powerpoint/2010/main" val="811498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FB8E23-7EE5-434D-2C77-0027BE349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86" y="2802222"/>
            <a:ext cx="3608039" cy="360803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en-GB" sz="1600" b="1" dirty="0"/>
              <a:t>Primary Frameworks &amp; Languages:</a:t>
            </a:r>
            <a:endParaRPr lang="en-GB" sz="1600" dirty="0"/>
          </a:p>
          <a:p>
            <a:pPr>
              <a:lnSpc>
                <a:spcPct val="100000"/>
              </a:lnSpc>
            </a:pPr>
            <a:r>
              <a:rPr lang="en-GB" sz="1400" b="1" dirty="0"/>
              <a:t>Angular v20.1.0</a:t>
            </a:r>
            <a:r>
              <a:rPr lang="en-GB" sz="1400" dirty="0"/>
              <a:t>: The core framework used for component-based architecture and dependency injection.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TypeScript v5.8.2</a:t>
            </a:r>
            <a:r>
              <a:rPr lang="en-GB" sz="1400" dirty="0"/>
              <a:t>: The primary programming language, ensuring type safety and modern ECMAScript features.</a:t>
            </a:r>
          </a:p>
          <a:p>
            <a:pPr>
              <a:lnSpc>
                <a:spcPct val="100000"/>
              </a:lnSpc>
            </a:pPr>
            <a:r>
              <a:rPr lang="en-GB" sz="1400" b="1" dirty="0" err="1"/>
              <a:t>RxJS</a:t>
            </a:r>
            <a:r>
              <a:rPr lang="en-GB" sz="1400" b="1" dirty="0"/>
              <a:t> v7.8.0</a:t>
            </a:r>
            <a:r>
              <a:rPr lang="en-GB" sz="1400" dirty="0"/>
              <a:t>: Reactive Extensions library used for handling asynchronous data streams (Observables).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Zone.js v0.15.0</a:t>
            </a:r>
            <a:r>
              <a:rPr lang="en-GB" sz="1400" dirty="0"/>
              <a:t>: Handles change detection and execution context.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Runtime Environment:</a:t>
            </a:r>
            <a:endParaRPr lang="en-GB" sz="1400" dirty="0"/>
          </a:p>
          <a:p>
            <a:pPr>
              <a:lnSpc>
                <a:spcPct val="100000"/>
              </a:lnSpc>
            </a:pPr>
            <a:r>
              <a:rPr lang="en-GB" sz="1400" b="1" dirty="0"/>
              <a:t>Node.js v22.15.1</a:t>
            </a:r>
            <a:r>
              <a:rPr lang="en-GB" sz="1400" dirty="0"/>
              <a:t>: The JavaScript runtime used for the development server and build process.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/>
              <a:t>Figure 3 Tech Stack Diagram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4630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83E9-4D65-8F6A-A293-9964898E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F428-D835-24F5-B739-88BAA5A4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 (cont…)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E003AF-2ACF-683D-8024-26560017920A}"/>
              </a:ext>
            </a:extLst>
          </p:cNvPr>
          <p:cNvSpPr txBox="1">
            <a:spLocks/>
          </p:cNvSpPr>
          <p:nvPr/>
        </p:nvSpPr>
        <p:spPr bwMode="auto">
          <a:xfrm>
            <a:off x="77118" y="906305"/>
            <a:ext cx="9099502" cy="569279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b="1" dirty="0"/>
              <a:t>Build &amp; Package Management:</a:t>
            </a:r>
            <a:endParaRPr lang="en-GB" sz="1600" dirty="0"/>
          </a:p>
          <a:p>
            <a:pPr>
              <a:lnSpc>
                <a:spcPct val="100000"/>
              </a:lnSpc>
            </a:pPr>
            <a:r>
              <a:rPr lang="en-GB" sz="1400" b="1" dirty="0"/>
              <a:t>Angular CLI v20.1.3</a:t>
            </a:r>
            <a:r>
              <a:rPr lang="en-GB" sz="1400" dirty="0"/>
              <a:t>: The command-line interface for scaffolding, building, and serving the application.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NPM v10.9.2</a:t>
            </a:r>
            <a:r>
              <a:rPr lang="en-GB" sz="1400" dirty="0"/>
              <a:t>: The package manager used for dependency resolution.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endParaRPr lang="en-GB" sz="1400" b="1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/>
              <a:t>Figure 4 Dev Tools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E9C968-2DC4-3EE4-B830-C9CC10BDF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326" y="1903378"/>
            <a:ext cx="4025348" cy="404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468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Dataset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Data Source Logic:</a:t>
            </a:r>
            <a:endParaRPr lang="en-IN" sz="1600" dirty="0"/>
          </a:p>
          <a:p>
            <a:pPr fontAlgn="ctr">
              <a:lnSpc>
                <a:spcPct val="100000"/>
              </a:lnSpc>
            </a:pPr>
            <a:r>
              <a:rPr lang="en-IN" sz="1400" b="1" dirty="0"/>
              <a:t>JSON as Dataset</a:t>
            </a:r>
            <a:r>
              <a:rPr lang="en-IN" sz="1400" dirty="0"/>
              <a:t>: The application state acts as its own dataset, defined in a hierarchical JSON structure 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       </a:t>
            </a:r>
            <a:r>
              <a:rPr lang="en-IN" sz="1400" dirty="0" err="1"/>
              <a:t>dashboard.config.ts</a:t>
            </a:r>
            <a:r>
              <a:rPr lang="en-IN" sz="1400" dirty="0"/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Schema Definitions:</a:t>
            </a:r>
            <a:endParaRPr lang="en-IN" sz="1600" dirty="0"/>
          </a:p>
          <a:p>
            <a:pPr>
              <a:lnSpc>
                <a:spcPct val="100000"/>
              </a:lnSpc>
            </a:pPr>
            <a:r>
              <a:rPr lang="en-IN" sz="1400" b="1" dirty="0"/>
              <a:t>Metrics</a:t>
            </a:r>
            <a:r>
              <a:rPr lang="en-IN" sz="1400" dirty="0"/>
              <a:t>: { id, value, change, icon } - Drives the KPI cards.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Charts</a:t>
            </a:r>
            <a:r>
              <a:rPr lang="en-IN" sz="1400" dirty="0"/>
              <a:t>: { labels[], datasets[] } - Compatible with Chart.js inputs.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Logs</a:t>
            </a:r>
            <a:r>
              <a:rPr lang="en-IN" sz="1400" dirty="0"/>
              <a:t>: { timestamp, user, action } - Simulates an audit trail.</a:t>
            </a:r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 algn="ctr">
              <a:lnSpc>
                <a:spcPct val="100000"/>
              </a:lnSpc>
            </a:pPr>
            <a:endParaRPr lang="en-IN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IN" sz="1400" b="1" dirty="0"/>
              <a:t>Figure 5 Configuration Sample</a:t>
            </a:r>
          </a:p>
          <a:p>
            <a:pPr>
              <a:lnSpc>
                <a:spcPct val="100000"/>
              </a:lnSpc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24A0D-C4F9-1F6B-A561-C42E9D70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761" y="3429000"/>
            <a:ext cx="4180459" cy="27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1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DE0F-5F01-5E4B-3A9D-14EE1580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9659-D402-796C-C3C8-4C2F3ABF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96" y="30480"/>
            <a:ext cx="8328752" cy="694064"/>
          </a:xfrm>
        </p:spPr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(if any)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0165A7-7B1D-860B-D44F-9A375426ED5B}"/>
              </a:ext>
            </a:extLst>
          </p:cNvPr>
          <p:cNvSpPr txBox="1">
            <a:spLocks/>
          </p:cNvSpPr>
          <p:nvPr/>
        </p:nvSpPr>
        <p:spPr bwMode="auto">
          <a:xfrm>
            <a:off x="80396" y="963073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Core Dashboard Engine</a:t>
            </a:r>
            <a:endParaRPr lang="en-IN" sz="1600" dirty="0"/>
          </a:p>
          <a:p>
            <a:pPr>
              <a:lnSpc>
                <a:spcPct val="100000"/>
              </a:lnSpc>
            </a:pPr>
            <a:r>
              <a:rPr lang="en-IN" sz="1400" b="1" dirty="0"/>
              <a:t>Dynamic Rendering Strategy</a:t>
            </a:r>
            <a:r>
              <a:rPr lang="en-IN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Implemented with </a:t>
            </a:r>
            <a:r>
              <a:rPr lang="en-IN" sz="1400" b="1" dirty="0" err="1"/>
              <a:t>ngSwitch</a:t>
            </a:r>
            <a:r>
              <a:rPr lang="en-IN" sz="1400" b="1" dirty="0"/>
              <a:t> &amp; Directive Composition</a:t>
            </a:r>
            <a:r>
              <a:rPr lang="en-IN" sz="1400" dirty="0"/>
              <a:t> for scalable card types.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Eliminates hardcoded templates, allowing runtime layout generation.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Configuration Parser</a:t>
            </a:r>
            <a:r>
              <a:rPr lang="en-IN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IN" sz="1400" b="1" dirty="0"/>
              <a:t>Typed JSON Interfaces</a:t>
            </a:r>
            <a:r>
              <a:rPr lang="en-IN" sz="1400" dirty="0"/>
              <a:t> ensure runtime safety against malformed config.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Acts as the central schema definition for the entire application.</a:t>
            </a:r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marL="457200" lvl="1" indent="0" algn="ctr">
              <a:lnSpc>
                <a:spcPct val="100000"/>
              </a:lnSpc>
              <a:buNone/>
            </a:pPr>
            <a:endParaRPr lang="en-IN" sz="1400" dirty="0"/>
          </a:p>
          <a:p>
            <a:pPr marL="457200" lvl="1" indent="0" algn="ctr">
              <a:lnSpc>
                <a:spcPct val="100000"/>
              </a:lnSpc>
              <a:buNone/>
            </a:pPr>
            <a:r>
              <a:rPr lang="en-IN" sz="1400" b="1" dirty="0"/>
              <a:t>Figure 6 Dashboard App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09EF6-6AC9-DAC7-CE8C-13016D983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174" y="3083727"/>
            <a:ext cx="6669157" cy="293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53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188F5-8EB4-5BA9-C195-23433E73A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DFE7-93D7-CBDF-DCC2-6276BABB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Implementation</a:t>
            </a:r>
            <a:r>
              <a:rPr lang="en-IN" sz="2400" dirty="0">
                <a:ea typeface="Palatino" pitchFamily="2" charset="77"/>
              </a:rPr>
              <a:t> (if any)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B2ABC5-47D1-E727-8A2B-4D43D8F10117}"/>
              </a:ext>
            </a:extLst>
          </p:cNvPr>
          <p:cNvSpPr txBox="1">
            <a:spLocks/>
          </p:cNvSpPr>
          <p:nvPr/>
        </p:nvSpPr>
        <p:spPr bwMode="auto">
          <a:xfrm>
            <a:off x="218662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sz="1800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sz="1800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sz="1800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sz="1800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sz="1800" dirty="0">
              <a:ea typeface="Palatino" pitchFamily="2" charset="77"/>
            </a:endParaRP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r>
              <a:rPr lang="en-IN" sz="1400" b="1" dirty="0">
                <a:ea typeface="Palatino" pitchFamily="2" charset="77"/>
              </a:rPr>
              <a:t>Figure 7 Layout Calculation &amp; Drawing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68F44-1403-2B4E-5206-B47994126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55" y="1383897"/>
            <a:ext cx="8428383" cy="409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39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00FA-E015-693D-5750-83EC8B7D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EA1E-C26B-60E9-2BA3-86D15261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(if any)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584451-44FA-A9E5-6C25-938EFC57D3F2}"/>
              </a:ext>
            </a:extLst>
          </p:cNvPr>
          <p:cNvSpPr txBox="1">
            <a:spLocks/>
          </p:cNvSpPr>
          <p:nvPr/>
        </p:nvSpPr>
        <p:spPr bwMode="auto">
          <a:xfrm>
            <a:off x="218662" y="834048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Key Outcomes</a:t>
            </a:r>
            <a:endParaRPr lang="en-IN" sz="1600" dirty="0"/>
          </a:p>
          <a:p>
            <a:pPr>
              <a:lnSpc>
                <a:spcPct val="100000"/>
              </a:lnSpc>
            </a:pPr>
            <a:r>
              <a:rPr lang="en-IN" sz="1400" b="1" dirty="0"/>
              <a:t>Dynamic Rendering Engine</a:t>
            </a:r>
            <a:r>
              <a:rPr lang="en-IN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IN" sz="1400" dirty="0"/>
              <a:t>Successfully rendered mixed card types (Metrics, Charts, Tables) from a single JSON </a:t>
            </a:r>
            <a:r>
              <a:rPr lang="en-IN" sz="1400"/>
              <a:t>source.</a:t>
            </a:r>
            <a:endParaRPr lang="en-IN" sz="1400" dirty="0"/>
          </a:p>
          <a:p>
            <a:pPr>
              <a:lnSpc>
                <a:spcPct val="100000"/>
              </a:lnSpc>
            </a:pPr>
            <a:r>
              <a:rPr lang="en-IN" sz="1400" b="1" dirty="0"/>
              <a:t>Performance Benchmarks</a:t>
            </a:r>
            <a:r>
              <a:rPr lang="en-IN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IN" sz="1400" b="1" dirty="0"/>
              <a:t>Change Detection Reduction</a:t>
            </a:r>
            <a:r>
              <a:rPr lang="en-IN" sz="1400" dirty="0"/>
              <a:t>: Fewer cycles compared to Zone.js-only approach.</a:t>
            </a:r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marL="457200" lvl="1" indent="0" algn="ctr">
              <a:lnSpc>
                <a:spcPct val="100000"/>
              </a:lnSpc>
              <a:buNone/>
            </a:pPr>
            <a:endParaRPr lang="en-IN" sz="1400" dirty="0"/>
          </a:p>
          <a:p>
            <a:pPr marL="457200" lvl="1" indent="0" algn="ctr">
              <a:lnSpc>
                <a:spcPct val="100000"/>
              </a:lnSpc>
              <a:buNone/>
            </a:pPr>
            <a:r>
              <a:rPr lang="en-IN" sz="1400" b="1" dirty="0"/>
              <a:t>Figure 7 Dashboard</a:t>
            </a: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90B564-B46D-00F1-DAEB-00C42C77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56" y="2814348"/>
            <a:ext cx="7007087" cy="32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05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749B-FFA6-0CBE-4663-18F24429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F479-2CEA-5017-7E51-0D1369FF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(if any)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6BBD66-498F-E58A-F1DA-5E415682561E}"/>
              </a:ext>
            </a:extLst>
          </p:cNvPr>
          <p:cNvSpPr txBox="1">
            <a:spLocks/>
          </p:cNvSpPr>
          <p:nvPr/>
        </p:nvSpPr>
        <p:spPr bwMode="auto">
          <a:xfrm>
            <a:off x="93643" y="873805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95250" indent="0" algn="ctr">
              <a:lnSpc>
                <a:spcPct val="100000"/>
              </a:lnSpc>
              <a:buNone/>
            </a:pPr>
            <a:r>
              <a:rPr lang="en-IN" sz="1400" b="1" dirty="0">
                <a:ea typeface="Palatino" pitchFamily="2" charset="77"/>
              </a:rPr>
              <a:t>Figure 8 Setting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CC0B4-BC35-DCD5-6634-EE38AD329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58" y="1242547"/>
            <a:ext cx="7827064" cy="417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D49B-E6D7-13FF-A879-0C71B036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E212-9A00-D093-8242-FC82BE00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(if any)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3F403A-CDDF-888C-CC77-DFCFFA329B85}"/>
              </a:ext>
            </a:extLst>
          </p:cNvPr>
          <p:cNvSpPr txBox="1">
            <a:spLocks/>
          </p:cNvSpPr>
          <p:nvPr/>
        </p:nvSpPr>
        <p:spPr bwMode="auto">
          <a:xfrm>
            <a:off x="218662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357188" indent="-261938" algn="just">
              <a:lnSpc>
                <a:spcPct val="100000"/>
              </a:lnSpc>
              <a:buFont typeface="Arial" pitchFamily="34" charset="0"/>
              <a:buChar char="•"/>
            </a:pPr>
            <a:endParaRPr lang="en-IN" sz="1400" b="1" dirty="0">
              <a:ea typeface="Palatino" pitchFamily="2" charset="77"/>
            </a:endParaRPr>
          </a:p>
          <a:p>
            <a:pPr marL="95250" indent="0" algn="ctr">
              <a:lnSpc>
                <a:spcPct val="100000"/>
              </a:lnSpc>
              <a:buNone/>
            </a:pPr>
            <a:r>
              <a:rPr lang="en-IN" sz="1400" b="1" dirty="0">
                <a:ea typeface="Palatino" pitchFamily="2" charset="77"/>
              </a:rPr>
              <a:t>Figure 9 Card Editor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12080-2AE1-C1A5-E847-65535A23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74" y="1285284"/>
            <a:ext cx="8106141" cy="41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3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423B-3B76-BB2D-540F-6407DD5F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6FD5-56CD-F03C-31B2-41390615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Key Learnings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8B0E23-28B9-A411-F2B9-0AAE335CE30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b="1" dirty="0"/>
              <a:t>Technical Mastery</a:t>
            </a:r>
            <a:endParaRPr lang="en-GB" sz="1600" dirty="0"/>
          </a:p>
          <a:p>
            <a:pPr>
              <a:lnSpc>
                <a:spcPct val="100000"/>
              </a:lnSpc>
            </a:pPr>
            <a:r>
              <a:rPr lang="en-GB" sz="1400" b="1" dirty="0"/>
              <a:t>Advanced Angular Architecture</a:t>
            </a:r>
            <a:r>
              <a:rPr lang="en-GB" sz="1400" dirty="0"/>
              <a:t>: Deep dive into </a:t>
            </a:r>
            <a:r>
              <a:rPr lang="en-GB" sz="1400" b="1" dirty="0"/>
              <a:t>Standalone Components</a:t>
            </a:r>
            <a:r>
              <a:rPr lang="en-GB" sz="1400" dirty="0"/>
              <a:t>, </a:t>
            </a:r>
            <a:r>
              <a:rPr lang="en-GB" sz="1400" b="1" dirty="0"/>
              <a:t>Signals</a:t>
            </a:r>
            <a:r>
              <a:rPr lang="en-GB" sz="1400" dirty="0"/>
              <a:t>, and </a:t>
            </a:r>
            <a:r>
              <a:rPr lang="en-GB" sz="1400" b="1" dirty="0"/>
              <a:t>Dynamic Component Loading</a:t>
            </a:r>
            <a:r>
              <a:rPr lang="en-GB" sz="1400" dirty="0"/>
              <a:t> (</a:t>
            </a:r>
            <a:r>
              <a:rPr lang="en-GB" sz="1400" dirty="0" err="1"/>
              <a:t>ngSwitch</a:t>
            </a:r>
            <a:r>
              <a:rPr lang="en-GB" sz="1400" dirty="0"/>
              <a:t>/</a:t>
            </a:r>
            <a:r>
              <a:rPr lang="en-GB" sz="1400" dirty="0" err="1"/>
              <a:t>ViewContainerRef</a:t>
            </a:r>
            <a:r>
              <a:rPr lang="en-GB" sz="1400" dirty="0"/>
              <a:t>).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Reactive Programming</a:t>
            </a:r>
            <a:r>
              <a:rPr lang="en-GB" sz="1400" dirty="0"/>
              <a:t>: Mastered </a:t>
            </a:r>
            <a:r>
              <a:rPr lang="en-GB" sz="1400" b="1" dirty="0" err="1"/>
              <a:t>RxJS</a:t>
            </a:r>
            <a:r>
              <a:rPr lang="en-GB" sz="1400" dirty="0"/>
              <a:t> patterns for complex state management and async data streams (Subject, </a:t>
            </a:r>
            <a:r>
              <a:rPr lang="en-GB" sz="1400" dirty="0" err="1"/>
              <a:t>BehaviorSubject</a:t>
            </a:r>
            <a:r>
              <a:rPr lang="en-GB" sz="1400" dirty="0"/>
              <a:t>, heavy use of operators).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Modern CSS</a:t>
            </a:r>
            <a:r>
              <a:rPr lang="en-GB" sz="1400" dirty="0"/>
              <a:t>: Leveraged </a:t>
            </a:r>
            <a:r>
              <a:rPr lang="en-GB" sz="1400" b="1" dirty="0"/>
              <a:t>CSS Variables</a:t>
            </a:r>
            <a:r>
              <a:rPr lang="en-GB" sz="1400" dirty="0"/>
              <a:t> and </a:t>
            </a:r>
            <a:r>
              <a:rPr lang="en-GB" sz="1400" b="1" dirty="0"/>
              <a:t>Grid/Flexbox</a:t>
            </a:r>
            <a:r>
              <a:rPr lang="en-GB" sz="1400" dirty="0"/>
              <a:t> for a robust, theme-able layout engine.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4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1600" b="1" dirty="0"/>
              <a:t>Methodologies</a:t>
            </a:r>
            <a:endParaRPr lang="en-GB" sz="1600" dirty="0"/>
          </a:p>
          <a:p>
            <a:pPr>
              <a:lnSpc>
                <a:spcPct val="100000"/>
              </a:lnSpc>
            </a:pPr>
            <a:r>
              <a:rPr lang="en-GB" sz="1400" b="1" dirty="0"/>
              <a:t>Configuration-Driven Development</a:t>
            </a:r>
            <a:r>
              <a:rPr lang="en-GB" sz="1400" dirty="0"/>
              <a:t>: Learned to decouple "What to render" (Data) from "How to render" (Component), improving scalability.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Performance-First Mindset</a:t>
            </a:r>
            <a:r>
              <a:rPr lang="en-GB" sz="1400" dirty="0"/>
              <a:t>: Prioritized runtime performance using </a:t>
            </a:r>
            <a:r>
              <a:rPr lang="en-GB" sz="1400" dirty="0" err="1"/>
              <a:t>OnPush</a:t>
            </a:r>
            <a:r>
              <a:rPr lang="en-GB" sz="1400" dirty="0"/>
              <a:t> change detection and Signals to minimize rendering cost.</a:t>
            </a:r>
          </a:p>
          <a:p>
            <a:pPr>
              <a:lnSpc>
                <a:spcPct val="100000"/>
              </a:lnSpc>
            </a:pPr>
            <a:endParaRPr lang="en-GB" sz="1400" dirty="0"/>
          </a:p>
          <a:p>
            <a:pPr marL="0" indent="0">
              <a:buNone/>
            </a:pPr>
            <a:r>
              <a:rPr lang="en-IN" sz="1600" b="1" dirty="0"/>
              <a:t>Blogs and Articles Referred:</a:t>
            </a:r>
            <a:endParaRPr lang="en-IN" sz="1600" dirty="0"/>
          </a:p>
          <a:p>
            <a:r>
              <a:rPr lang="en-IN" sz="1400" i="1" dirty="0"/>
              <a:t>Angular Official Documentation</a:t>
            </a:r>
            <a:r>
              <a:rPr lang="en-IN" sz="1400" dirty="0"/>
              <a:t>: Interactive guide on Signals and standalone components.</a:t>
            </a:r>
          </a:p>
        </p:txBody>
      </p:sp>
    </p:spTree>
    <p:extLst>
      <p:ext uri="{BB962C8B-B14F-4D97-AF65-F5344CB8AC3E}">
        <p14:creationId xmlns:p14="http://schemas.microsoft.com/office/powerpoint/2010/main" val="1701351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Plan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14278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0878-8FE6-6431-E84F-16336E6D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43DA-2CB4-07C6-001C-3A639B4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Contribution and Attendance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864F80-A98D-C3A6-300F-743060AF58A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6ED005-6EC0-5EE2-8CB4-7008F054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389738"/>
              </p:ext>
            </p:extLst>
          </p:nvPr>
        </p:nvGraphicFramePr>
        <p:xfrm>
          <a:off x="110168" y="881350"/>
          <a:ext cx="8915266" cy="20211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01264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038666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4105797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1693280867"/>
                    </a:ext>
                  </a:extLst>
                </a:gridCol>
                <a:gridCol w="786550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32934039"/>
                    </a:ext>
                  </a:extLst>
                </a:gridCol>
              </a:tblGrid>
              <a:tr h="507388">
                <a:tc gridSpan="6"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GitHub Repository URL: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737965"/>
                  </a:ext>
                </a:extLst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Team Member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Roll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Done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(provide complete details)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Contribution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Lines of Code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(if any)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Lab Attendance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221030011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100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1000+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280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3194-9C46-7B10-5D70-B9C3D987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875B-8D9F-C28E-9A27-52775848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 </a:t>
            </a:r>
            <a:r>
              <a:rPr lang="en-IN" b="0" dirty="0">
                <a:ea typeface="Palatino" pitchFamily="2" charset="77"/>
              </a:rPr>
              <a:t>(as mentioned in weekly log)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A942A6-C262-448C-36C3-8A22D5548AE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8BA634-6669-9F87-EF31-1C4579404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43224"/>
              </p:ext>
            </p:extLst>
          </p:nvPr>
        </p:nvGraphicFramePr>
        <p:xfrm>
          <a:off x="110168" y="881350"/>
          <a:ext cx="8835528" cy="50734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42608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No. of Meetings with Supervisor: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71582"/>
                  </a:ext>
                </a:extLst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912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5E7F-6D85-EBF6-EAD4-18BE8EC5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F7BF-D279-302B-94BF-3DB4010A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(cont…)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675676-26F3-304D-6B9E-B3644390EFB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7900DB-DF9E-B5EC-0B92-06A7F239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73832"/>
              </p:ext>
            </p:extLst>
          </p:nvPr>
        </p:nvGraphicFramePr>
        <p:xfrm>
          <a:off x="110168" y="881350"/>
          <a:ext cx="8835528" cy="4647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9.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10.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40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15806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[1] MDN Web Docs, “Web technology for developers,” 2005-Present. [Online]. Available: </a:t>
            </a:r>
            <a:r>
              <a:rPr lang="en-IN" sz="1400" u="sng" dirty="0">
                <a:hlinkClick r:id="rId2"/>
              </a:rPr>
              <a:t>https://developer.mozilla.org/en-US/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[2] Angular Team at Google, “Official Angular Documentation,” 2016-Present. [Online]. Available: </a:t>
            </a:r>
            <a:r>
              <a:rPr lang="en-IN" sz="1400" u="sng" dirty="0">
                <a:hlinkClick r:id="rId3"/>
              </a:rPr>
              <a:t>https://angular.dev/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[3] Angular Team at Google, “Angular Style Guide,” 2016-Present. [Online]. Available: </a:t>
            </a:r>
            <a:r>
              <a:rPr lang="en-IN" sz="1400" u="sng" dirty="0">
                <a:hlinkClick r:id="rId4"/>
              </a:rPr>
              <a:t>https://angular.dev/style-guide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[4] A. Freeman, “Pro Angular,” </a:t>
            </a:r>
            <a:r>
              <a:rPr lang="en-IN" sz="1400" dirty="0" err="1"/>
              <a:t>Apress</a:t>
            </a:r>
            <a:r>
              <a:rPr lang="en-IN" sz="1400" dirty="0"/>
              <a:t>, 2017. [Online]. Available: </a:t>
            </a:r>
            <a:r>
              <a:rPr lang="en-IN" sz="1400" u="sng" dirty="0">
                <a:hlinkClick r:id="rId5"/>
              </a:rPr>
              <a:t>https://www.apress.com/gp/book/9781484223062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[5] J. Nielsen and D. Norman, “NN/g Research Publications,” 1998-Present. [Online]. Available: </a:t>
            </a:r>
            <a:r>
              <a:rPr lang="en-IN" sz="1400" u="sng" dirty="0">
                <a:hlinkClick r:id="rId6"/>
              </a:rPr>
              <a:t>https://www.nngroup.com/articles/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[6] </a:t>
            </a:r>
            <a:r>
              <a:rPr lang="en-IN" sz="1400" dirty="0" err="1"/>
              <a:t>RxJS</a:t>
            </a:r>
            <a:r>
              <a:rPr lang="en-IN" sz="1400" dirty="0"/>
              <a:t> Core Team, “</a:t>
            </a:r>
            <a:r>
              <a:rPr lang="en-IN" sz="1400" dirty="0" err="1"/>
              <a:t>RxJS</a:t>
            </a:r>
            <a:r>
              <a:rPr lang="en-IN" sz="1400" dirty="0"/>
              <a:t> Official Documentation,” 2012-Present. [Online]. Available: </a:t>
            </a:r>
            <a:r>
              <a:rPr lang="en-IN" sz="1400" u="sng" dirty="0">
                <a:hlinkClick r:id="rId7"/>
              </a:rPr>
              <a:t>https://rxjs.dev/guide/overview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[7] </a:t>
            </a:r>
            <a:r>
              <a:rPr lang="en-IN" sz="1400" dirty="0" err="1"/>
              <a:t>NgRx</a:t>
            </a:r>
            <a:r>
              <a:rPr lang="en-IN" sz="1400" dirty="0"/>
              <a:t> Team, “</a:t>
            </a:r>
            <a:r>
              <a:rPr lang="en-IN" sz="1400" dirty="0" err="1"/>
              <a:t>NgRx</a:t>
            </a:r>
            <a:r>
              <a:rPr lang="en-IN" sz="1400" dirty="0"/>
              <a:t>: Reactive State for Angular,” 2016-Present. [Online]. Available: </a:t>
            </a:r>
            <a:r>
              <a:rPr lang="en-IN" sz="1400" u="sng" dirty="0">
                <a:hlinkClick r:id="rId8"/>
              </a:rPr>
              <a:t>https://ngrx.io/docs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[8] Microsoft, “TypeScript Handbook,” 2012-Present. [Online]. Available: </a:t>
            </a:r>
            <a:r>
              <a:rPr lang="en-IN" sz="1400" u="sng" dirty="0">
                <a:hlinkClick r:id="rId9"/>
              </a:rPr>
              <a:t>https://www.typescriptlang.org/docs/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[9] Google Chrome Team, “Web Vitals,” 2020-Present. [Online]. Available: </a:t>
            </a:r>
            <a:r>
              <a:rPr lang="en-IN" sz="1400" u="sng" dirty="0">
                <a:hlinkClick r:id="rId10"/>
              </a:rPr>
              <a:t>https://web.dev/articles/vitals</a:t>
            </a: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[10] S. A. Kumar and R. S. Devi, “Comparative Analysis of Angular, React, and Vue.js,” </a:t>
            </a:r>
            <a:r>
              <a:rPr lang="en-IN" sz="1400" i="1" dirty="0"/>
              <a:t>International Journal of Innovative Science and Research Technology</a:t>
            </a:r>
            <a:r>
              <a:rPr lang="en-IN" sz="1400" dirty="0"/>
              <a:t>, 2024. [Online]. Available: </a:t>
            </a:r>
            <a:r>
              <a:rPr lang="en-IN" sz="1400" u="sng" dirty="0">
                <a:hlinkClick r:id="rId11"/>
              </a:rPr>
              <a:t>https://ijisrt.com/</a:t>
            </a:r>
            <a:endParaRPr lang="en-IN" sz="1400" dirty="0"/>
          </a:p>
          <a:p>
            <a:pPr marL="0" indent="0">
              <a:buNone/>
            </a:pPr>
            <a:endParaRPr lang="en-IN" dirty="0"/>
          </a:p>
          <a:p>
            <a:pPr marL="95250" indent="0">
              <a:buNone/>
            </a:pPr>
            <a:endParaRPr lang="en-IN" sz="14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2175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endParaRPr lang="en-IN" sz="2000" b="1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r>
              <a:rPr lang="en-IN" sz="2000" b="1" dirty="0">
                <a:ea typeface="Palatino" pitchFamily="2" charset="77"/>
              </a:rPr>
              <a:t>Thanks</a:t>
            </a:r>
            <a:r>
              <a:rPr lang="en-IN" sz="1400" dirty="0">
                <a:ea typeface="Palatino" pitchFamily="2" charset="77"/>
              </a:rPr>
              <a:t>.</a:t>
            </a:r>
          </a:p>
        </p:txBody>
      </p:sp>
      <p:pic>
        <p:nvPicPr>
          <p:cNvPr id="1034" name="Picture 10" descr="🙏">
            <a:extLst>
              <a:ext uri="{FF2B5EF4-FFF2-40B4-BE49-F238E27FC236}">
                <a16:creationId xmlns:a16="http://schemas.microsoft.com/office/drawing/2014/main" id="{75E1F11E-915E-CA0A-3D1E-80341D39E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164" y="2663328"/>
            <a:ext cx="765672" cy="76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028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316&quot;&gt;&lt;object type=&quot;3&quot; unique_id=&quot;10317&quot;&gt;&lt;property id=&quot;20148&quot; value=&quot;5&quot;/&gt;&lt;property id=&quot;20300&quot; value=&quot;Slide 1 - &amp;quot;A Novel Framework for Analysis of Big Data&amp;quot;&quot;/&gt;&lt;property id=&quot;20307&quot; value=&quot;325&quot;/&gt;&lt;/object&gt;&lt;object type=&quot;3&quot; unique_id=&quot;10325&quot;&gt;&lt;property id=&quot;20148&quot; value=&quot;5&quot;/&gt;&lt;property id=&quot;20300&quot; value=&quot;Slide 3 - &amp;quot;Introduction&amp;quot;&quot;/&gt;&lt;property id=&quot;20307&quot; value=&quot;392&quot;/&gt;&lt;/object&gt;&lt;object type=&quot;3&quot; unique_id=&quot;10327&quot;&gt;&lt;property id=&quot;20148&quot; value=&quot;5&quot;/&gt;&lt;property id=&quot;20300&quot; value=&quot;Slide 4 - &amp;quot;Introduction (cont…)&amp;quot;&quot;/&gt;&lt;property id=&quot;20307&quot; value=&quot;395&quot;/&gt;&lt;/object&gt;&lt;object type=&quot;3&quot; unique_id=&quot;10333&quot;&gt;&lt;property id=&quot;20148&quot; value=&quot;5&quot;/&gt;&lt;property id=&quot;20300&quot; value=&quot;Slide 5 - &amp;quot;Big Data – A Definition&amp;quot;&quot;/&gt;&lt;property id=&quot;20307&quot; value=&quot;386&quot;/&gt;&lt;/object&gt;&lt;object type=&quot;3&quot; unique_id=&quot;10334&quot;&gt;&lt;property id=&quot;20148&quot; value=&quot;5&quot;/&gt;&lt;property id=&quot;20300&quot; value=&quot;Slide 6 - &amp;quot;Characteristics of Big Data&amp;quot;&quot;/&gt;&lt;property id=&quot;20307&quot; value=&quot;355&quot;/&gt;&lt;/object&gt;&lt;object type=&quot;3&quot; unique_id=&quot;10339&quot;&gt;&lt;property id=&quot;20148&quot; value=&quot;5&quot;/&gt;&lt;property id=&quot;20300&quot; value=&quot;Slide 7 - &amp;quot;Big Data Analytics&amp;quot;&quot;/&gt;&lt;property id=&quot;20307&quot; value=&quot;387&quot;/&gt;&lt;/object&gt;&lt;object type=&quot;3&quot; unique_id=&quot;10369&quot;&gt;&lt;property id=&quot;20148&quot; value=&quot;5&quot;/&gt;&lt;property id=&quot;20300&quot; value=&quot;Slide 8 - &amp;quot;List of Development Tools&amp;quot;&quot;/&gt;&lt;property id=&quot;20307&quot; value=&quot;505&quot;/&gt;&lt;/object&gt;&lt;object type=&quot;3&quot; unique_id=&quot;10371&quot;&gt;&lt;property id=&quot;20148&quot; value=&quot;5&quot;/&gt;&lt;property id=&quot;20300&quot; value=&quot;Slide 11 - &amp;quot;Malware Classification: A Case Study&amp;quot;&quot;/&gt;&lt;property id=&quot;20307&quot; value=&quot;514&quot;/&gt;&lt;/object&gt;&lt;object type=&quot;3&quot; unique_id=&quot;10372&quot;&gt;&lt;property id=&quot;20148&quot; value=&quot;5&quot;/&gt;&lt;property id=&quot;20300&quot; value=&quot;Slide 55&quot;/&gt;&lt;property id=&quot;20307&quot; value=&quot;452&quot;/&gt;&lt;/object&gt;&lt;object type=&quot;3&quot; unique_id=&quot;11475&quot;&gt;&lt;property id=&quot;20148&quot; value=&quot;5&quot;/&gt;&lt;property id=&quot;20300&quot; value=&quot;Slide 2 - &amp;quot;Outline&amp;quot;&quot;/&gt;&lt;property id=&quot;20307&quot; value=&quot;516&quot;/&gt;&lt;/object&gt;&lt;object type=&quot;3&quot; unique_id=&quot;11477&quot;&gt;&lt;property id=&quot;20148&quot; value=&quot;5&quot;/&gt;&lt;property id=&quot;20300&quot; value=&quot;Slide 21 - &amp;quot;Research Gaps&amp;quot;&quot;/&gt;&lt;property id=&quot;20307&quot; value=&quot;517&quot;/&gt;&lt;/object&gt;&lt;object type=&quot;3&quot; unique_id=&quot;11478&quot;&gt;&lt;property id=&quot;20148&quot; value=&quot;5&quot;/&gt;&lt;property id=&quot;20300&quot; value=&quot;Slide 22 - &amp;quot;Research Gaps (Cont…)&amp;quot;&quot;/&gt;&lt;property id=&quot;20307&quot; value=&quot;528&quot;/&gt;&lt;/object&gt;&lt;object type=&quot;3&quot; unique_id=&quot;11479&quot;&gt;&lt;property id=&quot;20148&quot; value=&quot;5&quot;/&gt;&lt;property id=&quot;20300&quot; value=&quot;Slide 23 - &amp;quot;Problem Definition&amp;quot;&quot;/&gt;&lt;property id=&quot;20307&quot; value=&quot;519&quot;/&gt;&lt;/object&gt;&lt;object type=&quot;3&quot; unique_id=&quot;11480&quot;&gt;&lt;property id=&quot;20148&quot; value=&quot;5&quot;/&gt;&lt;property id=&quot;20300&quot; value=&quot;Slide 24 - &amp;quot;Research Objectives&amp;quot;&quot;/&gt;&lt;property id=&quot;20307&quot; value=&quot;518&quot;/&gt;&lt;/object&gt;&lt;object type=&quot;3&quot; unique_id=&quot;11481&quot;&gt;&lt;property id=&quot;20148&quot; value=&quot;5&quot;/&gt;&lt;property id=&quot;20300&quot; value=&quot;Slide 25 - &amp;quot;Research Objectives 1&amp;quot;&quot;/&gt;&lt;property id=&quot;20307&quot; value=&quot;520&quot;/&gt;&lt;/object&gt;&lt;object type=&quot;3&quot; unique_id=&quot;11482&quot;&gt;&lt;property id=&quot;20148&quot; value=&quot;5&quot;/&gt;&lt;property id=&quot;20300&quot; value=&quot;Slide 26 - &amp;quot;Research Objectives 2&amp;quot;&quot;/&gt;&lt;property id=&quot;20307&quot; value=&quot;530&quot;/&gt;&lt;/object&gt;&lt;object type=&quot;3&quot; unique_id=&quot;11483&quot;&gt;&lt;property id=&quot;20148&quot; value=&quot;5&quot;/&gt;&lt;property id=&quot;20300&quot; value=&quot;Slide 27 - &amp;quot;Research Objectives 3&amp;quot;&quot;/&gt;&lt;property id=&quot;20307&quot; value=&quot;531&quot;/&gt;&lt;/object&gt;&lt;object type=&quot;3&quot; unique_id=&quot;11484&quot;&gt;&lt;property id=&quot;20148&quot; value=&quot;5&quot;/&gt;&lt;property id=&quot;20300&quot; value=&quot;Slide 28 - &amp;quot;Architecture for Big Data Analytics&amp;quot;&quot;/&gt;&lt;property id=&quot;20307&quot; value=&quot;522&quot;/&gt;&lt;/object&gt;&lt;object type=&quot;3&quot; unique_id=&quot;11485&quot;&gt;&lt;property id=&quot;20148&quot; value=&quot;5&quot;/&gt;&lt;property id=&quot;20300&quot; value=&quot;Slide 50 - &amp;quot;Key Contributions&amp;quot;&quot;/&gt;&lt;property id=&quot;20307&quot; value=&quot;523&quot;/&gt;&lt;/object&gt;&lt;object type=&quot;3&quot; unique_id=&quot;11486&quot;&gt;&lt;property id=&quot;20148&quot; value=&quot;5&quot;/&gt;&lt;property id=&quot;20300&quot; value=&quot;Slide 51 - &amp;quot;Key Contributions&amp;quot;&quot;/&gt;&lt;property id=&quot;20307&quot; value=&quot;529&quot;/&gt;&lt;/object&gt;&lt;object type=&quot;3&quot; unique_id=&quot;11487&quot;&gt;&lt;property id=&quot;20148&quot; value=&quot;5&quot;/&gt;&lt;property id=&quot;20300&quot; value=&quot;Slide 52 - &amp;quot;Future Scope&amp;quot;&quot;/&gt;&lt;property id=&quot;20307&quot; value=&quot;524&quot;/&gt;&lt;/object&gt;&lt;object type=&quot;3&quot; unique_id=&quot;11488&quot;&gt;&lt;property id=&quot;20148&quot; value=&quot;5&quot;/&gt;&lt;property id=&quot;20300&quot; value=&quot;Slide 53 - &amp;quot;List of Publications&amp;quot;&quot;/&gt;&lt;property id=&quot;20307&quot; value=&quot;525&quot;/&gt;&lt;/object&gt;&lt;object type=&quot;3&quot; unique_id=&quot;11489&quot;&gt;&lt;property id=&quot;20148&quot; value=&quot;5&quot;/&gt;&lt;property id=&quot;20300&quot; value=&quot;Slide 54 - &amp;quot;References&amp;quot;&quot;/&gt;&lt;property id=&quot;20307&quot; value=&quot;526&quot;/&gt;&lt;/object&gt;&lt;object type=&quot;3&quot; unique_id=&quot;12645&quot;&gt;&lt;property id=&quot;20148&quot; value=&quot;5&quot;/&gt;&lt;property id=&quot;20300&quot; value=&quot;Slide 31&quot;/&gt;&lt;property id=&quot;20307&quot; value=&quot;533&quot;/&gt;&lt;/object&gt;&lt;object type=&quot;3&quot; unique_id=&quot;12646&quot;&gt;&lt;property id=&quot;20148&quot; value=&quot;5&quot;/&gt;&lt;property id=&quot;20300&quot; value=&quot;Slide 32&quot;/&gt;&lt;property id=&quot;20307&quot; value=&quot;534&quot;/&gt;&lt;/object&gt;&lt;object type=&quot;3&quot; unique_id=&quot;12647&quot;&gt;&lt;property id=&quot;20148&quot; value=&quot;5&quot;/&gt;&lt;property id=&quot;20300&quot; value=&quot;Slide 33&quot;/&gt;&lt;property id=&quot;20307&quot; value=&quot;535&quot;/&gt;&lt;/object&gt;&lt;object type=&quot;3&quot; unique_id=&quot;13251&quot;&gt;&lt;property id=&quot;20148&quot; value=&quot;5&quot;/&gt;&lt;property id=&quot;20300&quot; value=&quot;Slide 29 - &amp;quot;Data Preparation&amp;quot;&quot;/&gt;&lt;property id=&quot;20307&quot; value=&quot;537&quot;/&gt;&lt;/object&gt;&lt;object type=&quot;3&quot; unique_id=&quot;13252&quot;&gt;&lt;property id=&quot;20148&quot; value=&quot;5&quot;/&gt;&lt;property id=&quot;20300&quot; value=&quot;Slide 30 - &amp;quot;Functional Flow of Malware Trend Analysis&amp;quot;&quot;/&gt;&lt;property id=&quot;20307&quot; value=&quot;536&quot;/&gt;&lt;/object&gt;&lt;object type=&quot;3&quot; unique_id=&quot;13253&quot;&gt;&lt;property id=&quot;20148&quot; value=&quot;5&quot;/&gt;&lt;property id=&quot;20300&quot; value=&quot;Slide 34 - &amp;quot;Conclusion&amp;quot;&quot;/&gt;&lt;property id=&quot;20307&quot; value=&quot;538&quot;/&gt;&lt;/object&gt;&lt;object type=&quot;3&quot; unique_id=&quot;14250&quot;&gt;&lt;property id=&quot;20148&quot; value=&quot;5&quot;/&gt;&lt;property id=&quot;20300&quot; value=&quot;Slide 16 - &amp;quot;Comparison of open source big data stream processing frameworks&amp;quot;&quot;/&gt;&lt;property id=&quot;20307&quot; value=&quot;542&quot;/&gt;&lt;/object&gt;&lt;object type=&quot;3&quot; unique_id=&quot;14251&quot;&gt;&lt;property id=&quot;20148&quot; value=&quot;5&quot;/&gt;&lt;property id=&quot;20300&quot; value=&quot;Slide 17 - &amp;quot;Comparison of open source big data stream processing frameworks&amp;quot;&quot;/&gt;&lt;property id=&quot;20307&quot; value=&quot;545&quot;/&gt;&lt;/object&gt;&lt;object type=&quot;3&quot; unique_id=&quot;15004&quot;&gt;&lt;property id=&quot;20148&quot; value=&quot;5&quot;/&gt;&lt;property id=&quot;20300&quot; value=&quot;Slide 18 - &amp;quot;Malware Detection and Classification Techniques&amp;quot;&quot;/&gt;&lt;property id=&quot;20307&quot; value=&quot;548&quot;/&gt;&lt;/object&gt;&lt;object type=&quot;3&quot; unique_id=&quot;15005&quot;&gt;&lt;property id=&quot;20148&quot; value=&quot;5&quot;/&gt;&lt;property id=&quot;20300&quot; value=&quot;Slide 19 - &amp;quot;Malware Detection and Classification Techniques&amp;quot;&quot;/&gt;&lt;property id=&quot;20307&quot; value=&quot;549&quot;/&gt;&lt;/object&gt;&lt;object type=&quot;3&quot; unique_id=&quot;15006&quot;&gt;&lt;property id=&quot;20148&quot; value=&quot;5&quot;/&gt;&lt;property id=&quot;20300&quot; value=&quot;Slide 20 - &amp;quot;Malware Detection and Classification Techniques&amp;quot;&quot;/&gt;&lt;property id=&quot;20307&quot; value=&quot;550&quot;/&gt;&lt;/object&gt;&lt;object type=&quot;3&quot; unique_id=&quot;15624&quot;&gt;&lt;property id=&quot;20148&quot; value=&quot;5&quot;/&gt;&lt;property id=&quot;20300&quot; value=&quot;Slide 12 - &amp;quot;Literature Review&amp;quot;&quot;/&gt;&lt;property id=&quot;20307&quot; value=&quot;552&quot;/&gt;&lt;/object&gt;&lt;object type=&quot;3&quot; unique_id=&quot;15625&quot;&gt;&lt;property id=&quot;20148&quot; value=&quot;5&quot;/&gt;&lt;property id=&quot;20300&quot; value=&quot;Slide 13 - &amp;quot;A bibliometric study of relevant literature in academics/industry&amp;quot;&quot;/&gt;&lt;property id=&quot;20307&quot; value=&quot;553&quot;/&gt;&lt;/object&gt;&lt;object type=&quot;3&quot; unique_id=&quot;15626&quot;&gt;&lt;property id=&quot;20148&quot; value=&quot;5&quot;/&gt;&lt;property id=&quot;20300&quot; value=&quot;Slide 14 - &amp;quot;Literature Review&amp;quot;&quot;/&gt;&lt;property id=&quot;20307&quot; value=&quot;551&quot;/&gt;&lt;/object&gt;&lt;object type=&quot;3&quot; unique_id=&quot;15627&quot;&gt;&lt;property id=&quot;20148&quot; value=&quot;5&quot;/&gt;&lt;property id=&quot;20300&quot; value=&quot;Slide 15 - &amp;quot;Comparison of open source big data stream processing frameworks&amp;quot;&quot;/&gt;&lt;property id=&quot;20307&quot; value=&quot;556&quot;/&gt;&lt;/object&gt;&lt;object type=&quot;3&quot; unique_id=&quot;16029&quot;&gt;&lt;property id=&quot;20148&quot; value=&quot;5&quot;/&gt;&lt;property id=&quot;20300&quot; value=&quot;Slide 35 - &amp;quot;Big Data Framework for Zero-Day Malware Classification&amp;quot;&quot;/&gt;&lt;property id=&quot;20307&quot; value=&quot;557&quot;/&gt;&lt;/object&gt;&lt;object type=&quot;3&quot; unique_id=&quot;16030&quot;&gt;&lt;property id=&quot;20148&quot; value=&quot;5&quot;/&gt;&lt;property id=&quot;20300&quot; value=&quot;Slide 42 - &amp;quot;Improving Malware Detection using Big Data and EL&amp;quot;&quot;/&gt;&lt;property id=&quot;20307&quot; value=&quot;558&quot;/&gt;&lt;/object&gt;&lt;object type=&quot;3&quot; unique_id=&quot;16031&quot;&gt;&lt;property id=&quot;20148&quot; value=&quot;5&quot;/&gt;&lt;property id=&quot;20300&quot; value=&quot;Slide 49 - &amp;quot;Malware Classification using Big Data and Deep Neural Network&amp;quot;&quot;/&gt;&lt;property id=&quot;20307&quot; value=&quot;559&quot;/&gt;&lt;/object&gt;&lt;object type=&quot;3&quot; unique_id=&quot;16282&quot;&gt;&lt;property id=&quot;20148&quot; value=&quot;5&quot;/&gt;&lt;property id=&quot;20300&quot; value=&quot;Slide 44 - &amp;quot;Proposed Schemes&amp;quot;&quot;/&gt;&lt;property id=&quot;20307&quot; value=&quot;560&quot;/&gt;&lt;/object&gt;&lt;object type=&quot;3&quot; unique_id=&quot;16872&quot;&gt;&lt;property id=&quot;20148&quot; value=&quot;5&quot;/&gt;&lt;property id=&quot;20300&quot; value=&quot;Slide 43 - &amp;quot;Feature Vectorization&amp;quot;&quot;/&gt;&lt;property id=&quot;20307&quot; value=&quot;562&quot;/&gt;&lt;/object&gt;&lt;object type=&quot;3&quot; unique_id=&quot;16873&quot;&gt;&lt;property id=&quot;20148&quot; value=&quot;5&quot;/&gt;&lt;property id=&quot;20300&quot; value=&quot;Slide 45 - &amp;quot;Experimental Results and Evaluation&amp;quot;&quot;/&gt;&lt;property id=&quot;20307&quot; value=&quot;561&quot;/&gt;&lt;/object&gt;&lt;object type=&quot;3&quot; unique_id=&quot;16874&quot;&gt;&lt;property id=&quot;20148&quot; value=&quot;5&quot;/&gt;&lt;property id=&quot;20300&quot; value=&quot;Slide 46 - &amp;quot;Evaluation Results&amp;quot;&quot;/&gt;&lt;property id=&quot;20307&quot; value=&quot;563&quot;/&gt;&lt;/object&gt;&lt;object type=&quot;3&quot; unique_id=&quot;16875&quot;&gt;&lt;property id=&quot;20148&quot; value=&quot;5&quot;/&gt;&lt;property id=&quot;20300&quot; value=&quot;Slide 47 - &amp;quot;Evaluation Results&amp;quot;&quot;/&gt;&lt;property id=&quot;20307&quot; value=&quot;564&quot;/&gt;&lt;/object&gt;&lt;object type=&quot;3&quot; unique_id=&quot;16876&quot;&gt;&lt;property id=&quot;20148&quot; value=&quot;5&quot;/&gt;&lt;property id=&quot;20300&quot; value=&quot;Slide 48 - &amp;quot;Conclusion&amp;quot;&quot;/&gt;&lt;property id=&quot;20307&quot; value=&quot;565&quot;/&gt;&lt;/object&gt;&lt;object type=&quot;3&quot; unique_id=&quot;17661&quot;&gt;&lt;property id=&quot;20148&quot; value=&quot;5&quot;/&gt;&lt;property id=&quot;20300&quot; value=&quot;Slide 36 - &amp;quot;Data Preparation&amp;quot;&quot;/&gt;&lt;property id=&quot;20307&quot; value=&quot;566&quot;/&gt;&lt;/object&gt;&lt;object type=&quot;3&quot; unique_id=&quot;17662&quot;&gt;&lt;property id=&quot;20148&quot; value=&quot;5&quot;/&gt;&lt;property id=&quot;20300&quot; value=&quot;Slide 37 - &amp;quot;Big Data Framework for Malware Classification&amp;quot;&quot;/&gt;&lt;property id=&quot;20307&quot; value=&quot;568&quot;/&gt;&lt;/object&gt;&lt;object type=&quot;3&quot; unique_id=&quot;17663&quot;&gt;&lt;property id=&quot;20148&quot; value=&quot;5&quot;/&gt;&lt;property id=&quot;20300&quot; value=&quot;Slide 38 - &amp;quot;Feature Extraction&amp;quot;&quot;/&gt;&lt;property id=&quot;20307&quot; value=&quot;571&quot;/&gt;&lt;/object&gt;&lt;object type=&quot;3&quot; unique_id=&quot;17664&quot;&gt;&lt;property id=&quot;20148&quot; value=&quot;5&quot;/&gt;&lt;property id=&quot;20300&quot; value=&quot;Slide 39 - &amp;quot;Impact of Features on Malware Classification&amp;quot;&quot;/&gt;&lt;property id=&quot;20307&quot; value=&quot;569&quot;/&gt;&lt;/object&gt;&lt;object type=&quot;3&quot; unique_id=&quot;17665&quot;&gt;&lt;property id=&quot;20148&quot; value=&quot;5&quot;/&gt;&lt;property id=&quot;20300&quot; value=&quot;Slide 40 - &amp;quot;Experimental Results&amp;quot;&quot;/&gt;&lt;property id=&quot;20307&quot; value=&quot;570&quot;/&gt;&lt;/object&gt;&lt;object type=&quot;3&quot; unique_id=&quot;18034&quot;&gt;&lt;property id=&quot;20148&quot; value=&quot;5&quot;/&gt;&lt;property id=&quot;20300&quot; value=&quot;Slide 41 - &amp;quot;Conclusion&amp;quot;&quot;/&gt;&lt;property id=&quot;20307&quot; value=&quot;572&quot;/&gt;&lt;/object&gt;&lt;object type=&quot;3&quot; unique_id=&quot;20918&quot;&gt;&lt;property id=&quot;20148&quot; value=&quot;5&quot;/&gt;&lt;property id=&quot;20300&quot; value=&quot;Slide 9 - &amp;quot;Scalable Machine Learning Libraries&amp;quot;&quot;/&gt;&lt;property id=&quot;20307&quot; value=&quot;575&quot;/&gt;&lt;/object&gt;&lt;object type=&quot;3&quot; unique_id=&quot;20919&quot;&gt;&lt;property id=&quot;20148&quot; value=&quot;5&quot;/&gt;&lt;property id=&quot;20300&quot; value=&quot;Slide 10 - &amp;quot;High Level Conceptual Architecture of Big Data Security Analytics&amp;quot;&quot;/&gt;&lt;property id=&quot;20307&quot; value=&quot;576&quot;/&gt;&lt;/object&gt;&lt;/object&gt;&lt;object type=&quot;8&quot; unique_id=&quot;1043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23960</TotalTime>
  <Words>2324</Words>
  <Application>Microsoft Office PowerPoint</Application>
  <PresentationFormat>On-screen Show (4:3)</PresentationFormat>
  <Paragraphs>404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MS PGothic</vt:lpstr>
      <vt:lpstr>Arial</vt:lpstr>
      <vt:lpstr>Calibri</vt:lpstr>
      <vt:lpstr>Calibri Light</vt:lpstr>
      <vt:lpstr>Courier New</vt:lpstr>
      <vt:lpstr>Helvetica</vt:lpstr>
      <vt:lpstr>Palatino</vt:lpstr>
      <vt:lpstr>Tahoma</vt:lpstr>
      <vt:lpstr>Times New Roman</vt:lpstr>
      <vt:lpstr>Verdana</vt:lpstr>
      <vt:lpstr>Webdings</vt:lpstr>
      <vt:lpstr>1_os-8</vt:lpstr>
      <vt:lpstr>Custom Design</vt:lpstr>
      <vt:lpstr>JSON Config Driven Dashboard</vt:lpstr>
      <vt:lpstr>Outline</vt:lpstr>
      <vt:lpstr>Introduction</vt:lpstr>
      <vt:lpstr>Problem Statement</vt:lpstr>
      <vt:lpstr>Objectives</vt:lpstr>
      <vt:lpstr>Literature Review</vt:lpstr>
      <vt:lpstr>Literature Review</vt:lpstr>
      <vt:lpstr>Literature Review</vt:lpstr>
      <vt:lpstr>Work Done (after MP-I)</vt:lpstr>
      <vt:lpstr>Project Design (cont…)</vt:lpstr>
      <vt:lpstr>Project Design (cont…)</vt:lpstr>
      <vt:lpstr>Project Design (cont…)</vt:lpstr>
      <vt:lpstr>Tools, Technologies and Languages</vt:lpstr>
      <vt:lpstr>Tools, Technologies and Languages (cont…)</vt:lpstr>
      <vt:lpstr>Dataset</vt:lpstr>
      <vt:lpstr>Implementation (if any)</vt:lpstr>
      <vt:lpstr>Implementation (if any)</vt:lpstr>
      <vt:lpstr>Experimental Results (if any)</vt:lpstr>
      <vt:lpstr>Experimental Results (if any)</vt:lpstr>
      <vt:lpstr>Experimental Results (if any)</vt:lpstr>
      <vt:lpstr>Key Learnings</vt:lpstr>
      <vt:lpstr>Project Plan</vt:lpstr>
      <vt:lpstr>Work Contribution and Attendance</vt:lpstr>
      <vt:lpstr>Supervisor Interactions (as mentioned in weekly log)</vt:lpstr>
      <vt:lpstr>Supervisor Interactions (cont…)</vt:lpstr>
      <vt:lpstr>References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Tarish Sharma</cp:lastModifiedBy>
  <cp:revision>1497</cp:revision>
  <cp:lastPrinted>2025-09-08T06:45:20Z</cp:lastPrinted>
  <dcterms:created xsi:type="dcterms:W3CDTF">2008-07-20T15:16:37Z</dcterms:created>
  <dcterms:modified xsi:type="dcterms:W3CDTF">2026-05-13T17:13:23Z</dcterms:modified>
</cp:coreProperties>
</file>